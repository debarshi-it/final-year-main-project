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8" r:id="rId11"/>
    <p:sldId id="269" r:id="rId12"/>
    <p:sldId id="270" r:id="rId13"/>
    <p:sldId id="271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1330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68894-10B7-48B5-907B-DCA4F025ECC1}" type="datetimeFigureOut">
              <a:rPr lang="en-IN" smtClean="0"/>
              <a:t>12-07-2026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10ED1-FEEE-48E4-B03B-4EEA4275D92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782301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68894-10B7-48B5-907B-DCA4F025ECC1}" type="datetimeFigureOut">
              <a:rPr lang="en-IN" smtClean="0"/>
              <a:t>12-07-2026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10ED1-FEEE-48E4-B03B-4EEA4275D92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223760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68894-10B7-48B5-907B-DCA4F025ECC1}" type="datetimeFigureOut">
              <a:rPr lang="en-IN" smtClean="0"/>
              <a:t>12-07-2026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10ED1-FEEE-48E4-B03B-4EEA4275D92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37498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68894-10B7-48B5-907B-DCA4F025ECC1}" type="datetimeFigureOut">
              <a:rPr lang="en-IN" smtClean="0"/>
              <a:t>12-07-2026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10ED1-FEEE-48E4-B03B-4EEA4275D92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8475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68894-10B7-48B5-907B-DCA4F025ECC1}" type="datetimeFigureOut">
              <a:rPr lang="en-IN" smtClean="0"/>
              <a:t>12-07-2026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10ED1-FEEE-48E4-B03B-4EEA4275D92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8879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68894-10B7-48B5-907B-DCA4F025ECC1}" type="datetimeFigureOut">
              <a:rPr lang="en-IN" smtClean="0"/>
              <a:t>12-07-2026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10ED1-FEEE-48E4-B03B-4EEA4275D92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86934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68894-10B7-48B5-907B-DCA4F025ECC1}" type="datetimeFigureOut">
              <a:rPr lang="en-IN" smtClean="0"/>
              <a:t>12-07-2026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10ED1-FEEE-48E4-B03B-4EEA4275D92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57884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68894-10B7-48B5-907B-DCA4F025ECC1}" type="datetimeFigureOut">
              <a:rPr lang="en-IN" smtClean="0"/>
              <a:t>12-07-2026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10ED1-FEEE-48E4-B03B-4EEA4275D92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75674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68894-10B7-48B5-907B-DCA4F025ECC1}" type="datetimeFigureOut">
              <a:rPr lang="en-IN" smtClean="0"/>
              <a:t>12-07-2026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10ED1-FEEE-48E4-B03B-4EEA4275D92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66295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68894-10B7-48B5-907B-DCA4F025ECC1}" type="datetimeFigureOut">
              <a:rPr lang="en-IN" smtClean="0"/>
              <a:t>12-07-2026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10ED1-FEEE-48E4-B03B-4EEA4275D92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044802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68894-10B7-48B5-907B-DCA4F025ECC1}" type="datetimeFigureOut">
              <a:rPr lang="en-IN" smtClean="0"/>
              <a:t>12-07-2026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10ED1-FEEE-48E4-B03B-4EEA4275D92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18306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968894-10B7-48B5-907B-DCA4F025ECC1}" type="datetimeFigureOut">
              <a:rPr lang="en-IN" smtClean="0"/>
              <a:t>12-07-2026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510ED1-FEEE-48E4-B03B-4EEA4275D92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0718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val 8">
            <a:extLst>
              <a:ext uri="{FF2B5EF4-FFF2-40B4-BE49-F238E27FC236}">
                <a16:creationId xmlns:a16="http://schemas.microsoft.com/office/drawing/2014/main" id="{6325DDD4-933C-61E2-9EDD-F25E8AB5647E}"/>
              </a:ext>
            </a:extLst>
          </p:cNvPr>
          <p:cNvSpPr/>
          <p:nvPr/>
        </p:nvSpPr>
        <p:spPr>
          <a:xfrm>
            <a:off x="-1863524" y="-1880886"/>
            <a:ext cx="12147631" cy="1208975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1A3829-13F9-8596-4ABF-5FB6DF415507}"/>
              </a:ext>
            </a:extLst>
          </p:cNvPr>
          <p:cNvSpPr txBox="1"/>
          <p:nvPr/>
        </p:nvSpPr>
        <p:spPr>
          <a:xfrm>
            <a:off x="486137" y="590309"/>
            <a:ext cx="785921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SmartDrive – 3D Self-Driving Car Simulator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6C3C39-7755-9511-4C6E-C36B2B578AE8}"/>
              </a:ext>
            </a:extLst>
          </p:cNvPr>
          <p:cNvSpPr txBox="1"/>
          <p:nvPr/>
        </p:nvSpPr>
        <p:spPr>
          <a:xfrm>
            <a:off x="486137" y="2736502"/>
            <a:ext cx="856526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Web-Based Autonomous Driving Simulation Platform</a:t>
            </a:r>
          </a:p>
          <a:p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7A8A0E-9C52-413C-50C1-B5927AEB958E}"/>
              </a:ext>
            </a:extLst>
          </p:cNvPr>
          <p:cNvSpPr txBox="1"/>
          <p:nvPr/>
        </p:nvSpPr>
        <p:spPr>
          <a:xfrm rot="10800000" flipH="1" flipV="1">
            <a:off x="694482" y="3774700"/>
            <a:ext cx="5401518" cy="18004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IN" sz="2400" b="1" dirty="0"/>
              <a:t>Under the Guidance of</a:t>
            </a:r>
          </a:p>
          <a:p>
            <a:r>
              <a:rPr lang="en-IN" sz="2400" b="1" dirty="0"/>
              <a:t>Mr. Biplab Kumar Mondal</a:t>
            </a:r>
            <a:br>
              <a:rPr lang="en-IN" sz="2400" dirty="0"/>
            </a:br>
            <a:r>
              <a:rPr lang="en-IN" sz="2400" dirty="0"/>
              <a:t>Assistant Professor</a:t>
            </a:r>
            <a:br>
              <a:rPr lang="en-IN" sz="2400" dirty="0"/>
            </a:br>
            <a:r>
              <a:rPr lang="en-IN" sz="2400" dirty="0"/>
              <a:t>Department of Information Technology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2314237-4D66-952F-5999-5C404740D9B9}"/>
              </a:ext>
            </a:extLst>
          </p:cNvPr>
          <p:cNvSpPr/>
          <p:nvPr/>
        </p:nvSpPr>
        <p:spPr>
          <a:xfrm>
            <a:off x="8173656" y="3897810"/>
            <a:ext cx="2847373" cy="2653461"/>
          </a:xfrm>
          <a:prstGeom prst="ellipse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b="1" dirty="0">
                <a:solidFill>
                  <a:schemeClr val="tx1"/>
                </a:solidFill>
              </a:rPr>
              <a:t>Presented By:</a:t>
            </a:r>
          </a:p>
          <a:p>
            <a:r>
              <a:rPr lang="en-IN" dirty="0">
                <a:solidFill>
                  <a:schemeClr val="tx1"/>
                </a:solidFill>
              </a:rPr>
              <a:t>Ayan Kundu</a:t>
            </a:r>
          </a:p>
          <a:p>
            <a:r>
              <a:rPr lang="en-IN" dirty="0">
                <a:solidFill>
                  <a:schemeClr val="tx1"/>
                </a:solidFill>
              </a:rPr>
              <a:t>Moupiya Das</a:t>
            </a:r>
          </a:p>
          <a:p>
            <a:r>
              <a:rPr lang="en-IN" dirty="0" err="1">
                <a:solidFill>
                  <a:schemeClr val="tx1"/>
                </a:solidFill>
              </a:rPr>
              <a:t>Debarshi</a:t>
            </a:r>
            <a:r>
              <a:rPr lang="en-IN" dirty="0">
                <a:solidFill>
                  <a:schemeClr val="tx1"/>
                </a:solidFill>
              </a:rPr>
              <a:t> </a:t>
            </a:r>
            <a:r>
              <a:rPr lang="en-IN" dirty="0" err="1">
                <a:solidFill>
                  <a:schemeClr val="tx1"/>
                </a:solidFill>
              </a:rPr>
              <a:t>Chaterjee</a:t>
            </a:r>
            <a:endParaRPr lang="en-IN" dirty="0">
              <a:solidFill>
                <a:schemeClr val="tx1"/>
              </a:solidFill>
            </a:endParaRPr>
          </a:p>
          <a:p>
            <a:r>
              <a:rPr lang="en-IN" dirty="0">
                <a:solidFill>
                  <a:schemeClr val="tx1"/>
                </a:solidFill>
              </a:rPr>
              <a:t>Rohit Saha</a:t>
            </a:r>
          </a:p>
        </p:txBody>
      </p:sp>
    </p:spTree>
    <p:extLst>
      <p:ext uri="{BB962C8B-B14F-4D97-AF65-F5344CB8AC3E}">
        <p14:creationId xmlns:p14="http://schemas.microsoft.com/office/powerpoint/2010/main" val="2612902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37752F68-61D7-A74D-FD9E-F8CEAF4F475B}"/>
              </a:ext>
            </a:extLst>
          </p:cNvPr>
          <p:cNvSpPr/>
          <p:nvPr/>
        </p:nvSpPr>
        <p:spPr>
          <a:xfrm rot="5400000">
            <a:off x="-24581" y="614517"/>
            <a:ext cx="452284" cy="403123"/>
          </a:xfrm>
          <a:prstGeom prst="triangle">
            <a:avLst/>
          </a:prstGeom>
          <a:solidFill>
            <a:schemeClr val="bg2">
              <a:lumMod val="60000"/>
              <a:lumOff val="40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54D483-63CF-39C4-05CE-7978CFB71F0B}"/>
              </a:ext>
            </a:extLst>
          </p:cNvPr>
          <p:cNvSpPr txBox="1"/>
          <p:nvPr/>
        </p:nvSpPr>
        <p:spPr>
          <a:xfrm>
            <a:off x="845574" y="262080"/>
            <a:ext cx="744301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b="1" dirty="0">
                <a:latin typeface="Arial Rounded MT Bold" panose="020F0704030504030204" pitchFamily="34" charset="0"/>
              </a:rPr>
              <a:t>Introduction</a:t>
            </a:r>
            <a:endParaRPr lang="en-IN" sz="6600" b="1" dirty="0">
              <a:latin typeface="Arial Rounded MT Bold" panose="020F07040305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E880E2-57EC-A74F-B791-3C1C9103B1C9}"/>
              </a:ext>
            </a:extLst>
          </p:cNvPr>
          <p:cNvSpPr txBox="1"/>
          <p:nvPr/>
        </p:nvSpPr>
        <p:spPr>
          <a:xfrm>
            <a:off x="845574" y="1774371"/>
            <a:ext cx="8958943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SmartDrive – 3D Self-Driving Car Simulator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 web-based autonomous driving simulation platform designed to demonstrate intelligent vehicle navigation in a realistic 3D environment. </a:t>
            </a:r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integrates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Artificial Intelligence (AI)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A* path planning,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LiDAR-based obstacle detection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vehicle control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simulate autonomous driving. </a:t>
            </a:r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is developed using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Three.js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3D visualization,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Flask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backend services, and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Vite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frontend development. </a:t>
            </a:r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simulator includes roads, traffic signals, pedestrians, and dynamic vehicles to create realistic urban driving scenarios. 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provides a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safe, cost-effective, and educational platform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learning, testing, and evaluating autonomous driving technologies without requiring physical vehicles. 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842185A-56DC-A432-DF13-DA34AB860616}"/>
              </a:ext>
            </a:extLst>
          </p:cNvPr>
          <p:cNvSpPr/>
          <p:nvPr/>
        </p:nvSpPr>
        <p:spPr>
          <a:xfrm>
            <a:off x="-4879255" y="1623332"/>
            <a:ext cx="4920342" cy="1600198"/>
          </a:xfrm>
          <a:prstGeom prst="roundRect">
            <a:avLst>
              <a:gd name="adj" fmla="val 32917"/>
            </a:avLst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IN" dirty="0">
                <a:solidFill>
                  <a:schemeClr val="tx1"/>
                </a:solidFill>
              </a:rPr>
              <a:t>Developing and testing autonomous driving systems on real roads is </a:t>
            </a:r>
            <a:r>
              <a:rPr lang="en-IN" b="1" dirty="0">
                <a:solidFill>
                  <a:schemeClr val="tx1"/>
                </a:solidFill>
              </a:rPr>
              <a:t>expensive, time-consuming, and potentially unsafe</a:t>
            </a:r>
            <a:r>
              <a:rPr lang="en-IN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21E3211-F6C4-CB43-83ED-41B126573D45}"/>
              </a:ext>
            </a:extLst>
          </p:cNvPr>
          <p:cNvSpPr/>
          <p:nvPr/>
        </p:nvSpPr>
        <p:spPr>
          <a:xfrm>
            <a:off x="-5148946" y="4291039"/>
            <a:ext cx="5148945" cy="1654628"/>
          </a:xfrm>
          <a:prstGeom prst="roundRect">
            <a:avLst>
              <a:gd name="adj" fmla="val 32917"/>
            </a:avLst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IN" dirty="0">
                <a:solidFill>
                  <a:schemeClr val="tx1"/>
                </a:solidFill>
              </a:rPr>
              <a:t>Existing simulators often require </a:t>
            </a:r>
            <a:r>
              <a:rPr lang="en-IN" b="1" dirty="0">
                <a:solidFill>
                  <a:schemeClr val="tx1"/>
                </a:solidFill>
              </a:rPr>
              <a:t>high-end hardware</a:t>
            </a:r>
            <a:r>
              <a:rPr lang="en-IN" dirty="0">
                <a:solidFill>
                  <a:schemeClr val="tx1"/>
                </a:solidFill>
              </a:rPr>
              <a:t> or lack important features such as </a:t>
            </a:r>
            <a:r>
              <a:rPr lang="en-IN" b="1" dirty="0">
                <a:solidFill>
                  <a:schemeClr val="tx1"/>
                </a:solidFill>
              </a:rPr>
              <a:t>realistic vehicle physics, intelligent route planning, obstacle detection, traffic management, and telemetry analysis</a:t>
            </a:r>
            <a:r>
              <a:rPr lang="en-IN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E36DD0A-E4BF-17EA-1F8C-8E162ACE3F32}"/>
              </a:ext>
            </a:extLst>
          </p:cNvPr>
          <p:cNvSpPr/>
          <p:nvPr/>
        </p:nvSpPr>
        <p:spPr>
          <a:xfrm>
            <a:off x="12192000" y="1623332"/>
            <a:ext cx="5040088" cy="1600198"/>
          </a:xfrm>
          <a:prstGeom prst="roundRect">
            <a:avLst>
              <a:gd name="adj" fmla="val 32917"/>
            </a:avLst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IN" dirty="0">
                <a:solidFill>
                  <a:schemeClr val="tx1"/>
                </a:solidFill>
              </a:rPr>
              <a:t>There is a need for a </a:t>
            </a:r>
            <a:r>
              <a:rPr lang="en-IN" b="1" dirty="0">
                <a:solidFill>
                  <a:schemeClr val="tx1"/>
                </a:solidFill>
              </a:rPr>
              <a:t>lightweight, modular, and cost-effective simulation platform</a:t>
            </a:r>
            <a:r>
              <a:rPr lang="en-IN" dirty="0">
                <a:solidFill>
                  <a:schemeClr val="tx1"/>
                </a:solidFill>
              </a:rPr>
              <a:t> that combines all major autonomous driving components in a single environment.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6E9C5505-8E40-5D3A-DFE6-303A4D8CBDFD}"/>
              </a:ext>
            </a:extLst>
          </p:cNvPr>
          <p:cNvSpPr/>
          <p:nvPr/>
        </p:nvSpPr>
        <p:spPr>
          <a:xfrm>
            <a:off x="12192000" y="4291039"/>
            <a:ext cx="5040088" cy="1600198"/>
          </a:xfrm>
          <a:prstGeom prst="roundRect">
            <a:avLst>
              <a:gd name="adj" fmla="val 32917"/>
            </a:avLst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IN" i="1" dirty="0">
                <a:solidFill>
                  <a:schemeClr val="tx1"/>
                </a:solidFill>
              </a:rPr>
              <a:t>SmartDrive integrates A</a:t>
            </a:r>
            <a:r>
              <a:rPr lang="en-IN" dirty="0">
                <a:solidFill>
                  <a:schemeClr val="tx1"/>
                </a:solidFill>
              </a:rPr>
              <a:t> path planning, LiDAR sensing, and autonomous navigation in a realistic 3D simulator</a:t>
            </a:r>
          </a:p>
        </p:txBody>
      </p:sp>
    </p:spTree>
    <p:extLst>
      <p:ext uri="{BB962C8B-B14F-4D97-AF65-F5344CB8AC3E}">
        <p14:creationId xmlns:p14="http://schemas.microsoft.com/office/powerpoint/2010/main" val="339109050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52D6BBA-8B93-0DC1-3E11-321FDF43BE12}"/>
              </a:ext>
            </a:extLst>
          </p:cNvPr>
          <p:cNvSpPr/>
          <p:nvPr/>
        </p:nvSpPr>
        <p:spPr>
          <a:xfrm>
            <a:off x="740232" y="1649187"/>
            <a:ext cx="4920342" cy="1600198"/>
          </a:xfrm>
          <a:prstGeom prst="roundRect">
            <a:avLst>
              <a:gd name="adj" fmla="val 32917"/>
            </a:avLst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Developing</a:t>
            </a:r>
            <a:r>
              <a:rPr lang="en-IN" dirty="0">
                <a:solidFill>
                  <a:schemeClr val="tx1"/>
                </a:solidFill>
              </a:rPr>
              <a:t> and testing autonomous driving systems on real roads is </a:t>
            </a:r>
            <a:r>
              <a:rPr lang="en-IN" b="1" dirty="0">
                <a:solidFill>
                  <a:schemeClr val="tx1"/>
                </a:solidFill>
              </a:rPr>
              <a:t>expensive, time-consuming, and potentially unsafe</a:t>
            </a:r>
            <a:r>
              <a:rPr lang="en-IN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179B008-CAFF-AF85-38B5-5CDE8DD7D67A}"/>
              </a:ext>
            </a:extLst>
          </p:cNvPr>
          <p:cNvSpPr/>
          <p:nvPr/>
        </p:nvSpPr>
        <p:spPr>
          <a:xfrm>
            <a:off x="740232" y="4201884"/>
            <a:ext cx="5148945" cy="1654628"/>
          </a:xfrm>
          <a:prstGeom prst="roundRect">
            <a:avLst>
              <a:gd name="adj" fmla="val 32917"/>
            </a:avLst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Existing simulators often require </a:t>
            </a:r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high-end hardware</a:t>
            </a: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or lack important features such as </a:t>
            </a:r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realistic vehicle physics, intelligent route planning, obstacle detection, traffic management, and telemetry analysis</a:t>
            </a: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11BA0A8-A2DB-61F2-EA9E-6D7F79A62DD0}"/>
              </a:ext>
            </a:extLst>
          </p:cNvPr>
          <p:cNvSpPr/>
          <p:nvPr/>
        </p:nvSpPr>
        <p:spPr>
          <a:xfrm>
            <a:off x="6531427" y="1649187"/>
            <a:ext cx="5040088" cy="1600198"/>
          </a:xfrm>
          <a:prstGeom prst="roundRect">
            <a:avLst>
              <a:gd name="adj" fmla="val 32917"/>
            </a:avLst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There is a need for a </a:t>
            </a:r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lightweight, modular, and cost-effective simulation platform</a:t>
            </a: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that combines all major autonomous driving components in a single environment.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D1D29A2-AEF0-B522-F782-FA70690BD7B1}"/>
              </a:ext>
            </a:extLst>
          </p:cNvPr>
          <p:cNvSpPr/>
          <p:nvPr/>
        </p:nvSpPr>
        <p:spPr>
          <a:xfrm>
            <a:off x="6531427" y="4256314"/>
            <a:ext cx="5040088" cy="1600198"/>
          </a:xfrm>
          <a:prstGeom prst="roundRect">
            <a:avLst>
              <a:gd name="adj" fmla="val 32917"/>
            </a:avLst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SmartDrive integrates A path planning, LiDAR sensing, and autonomous navigation in a realistic 3D simulator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AC5C6E-2789-E0C2-B924-A36D5F671530}"/>
              </a:ext>
            </a:extLst>
          </p:cNvPr>
          <p:cNvSpPr txBox="1"/>
          <p:nvPr/>
        </p:nvSpPr>
        <p:spPr>
          <a:xfrm>
            <a:off x="795013" y="276179"/>
            <a:ext cx="896245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b="1" dirty="0">
                <a:latin typeface="Arial Rounded MT Bold" panose="020F0704030504030204" pitchFamily="34" charset="0"/>
              </a:rPr>
              <a:t>Problem Statement</a:t>
            </a:r>
            <a:endParaRPr lang="en-IN" sz="5400" b="1" dirty="0">
              <a:latin typeface="Arial Rounded MT Bold" panose="020F0704030504030204" pitchFamily="34" charset="0"/>
            </a:endParaRPr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3CAEEC48-DC10-3B20-1580-AD27BB6F421E}"/>
              </a:ext>
            </a:extLst>
          </p:cNvPr>
          <p:cNvSpPr/>
          <p:nvPr/>
        </p:nvSpPr>
        <p:spPr>
          <a:xfrm rot="5400000">
            <a:off x="-24580" y="506794"/>
            <a:ext cx="452284" cy="403123"/>
          </a:xfrm>
          <a:prstGeom prst="triangle">
            <a:avLst/>
          </a:prstGeom>
          <a:solidFill>
            <a:schemeClr val="bg2">
              <a:lumMod val="60000"/>
              <a:lumOff val="40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1BE1D2C-D9D0-D072-B770-F2E460D9D6C8}"/>
              </a:ext>
            </a:extLst>
          </p:cNvPr>
          <p:cNvSpPr txBox="1"/>
          <p:nvPr/>
        </p:nvSpPr>
        <p:spPr>
          <a:xfrm>
            <a:off x="376090" y="1649187"/>
            <a:ext cx="4189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/>
              <a:t>1.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0230EF-8EC5-EDC6-80D7-805DE96D44A7}"/>
              </a:ext>
            </a:extLst>
          </p:cNvPr>
          <p:cNvSpPr txBox="1"/>
          <p:nvPr/>
        </p:nvSpPr>
        <p:spPr>
          <a:xfrm>
            <a:off x="6210833" y="1649187"/>
            <a:ext cx="4189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/>
              <a:t>2.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E7FAB06-EBCC-777E-E26E-0634B4D8104D}"/>
              </a:ext>
            </a:extLst>
          </p:cNvPr>
          <p:cNvSpPr txBox="1"/>
          <p:nvPr/>
        </p:nvSpPr>
        <p:spPr>
          <a:xfrm>
            <a:off x="321665" y="4201884"/>
            <a:ext cx="4189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/>
              <a:t>3.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07984B2-C5AD-52F0-6BAC-69F5766C8C71}"/>
              </a:ext>
            </a:extLst>
          </p:cNvPr>
          <p:cNvSpPr txBox="1"/>
          <p:nvPr/>
        </p:nvSpPr>
        <p:spPr>
          <a:xfrm>
            <a:off x="6210832" y="4256314"/>
            <a:ext cx="4189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/>
              <a:t>4.</a:t>
            </a:r>
          </a:p>
        </p:txBody>
      </p:sp>
    </p:spTree>
    <p:extLst>
      <p:ext uri="{BB962C8B-B14F-4D97-AF65-F5344CB8AC3E}">
        <p14:creationId xmlns:p14="http://schemas.microsoft.com/office/powerpoint/2010/main" val="307788611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6D83124-4DA8-EEC3-D298-21B960BA968F}"/>
              </a:ext>
            </a:extLst>
          </p:cNvPr>
          <p:cNvSpPr txBox="1"/>
          <p:nvPr/>
        </p:nvSpPr>
        <p:spPr>
          <a:xfrm>
            <a:off x="845574" y="296804"/>
            <a:ext cx="744301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b="1" dirty="0">
                <a:latin typeface="Arial Rounded MT Bold" panose="020F0704030504030204" pitchFamily="34" charset="0"/>
              </a:rPr>
              <a:t>Objectives</a:t>
            </a:r>
            <a:endParaRPr lang="en-IN" sz="6600" b="1" dirty="0">
              <a:latin typeface="Arial Rounded MT Bold" panose="020F0704030504030204" pitchFamily="34" charset="0"/>
            </a:endParaRPr>
          </a:p>
        </p:txBody>
      </p:sp>
      <p:sp>
        <p:nvSpPr>
          <p:cNvPr id="7" name="Isosceles Triangle 6">
            <a:extLst>
              <a:ext uri="{FF2B5EF4-FFF2-40B4-BE49-F238E27FC236}">
                <a16:creationId xmlns:a16="http://schemas.microsoft.com/office/drawing/2014/main" id="{FE7560BA-65AD-200D-B04C-D5172F0ADC39}"/>
              </a:ext>
            </a:extLst>
          </p:cNvPr>
          <p:cNvSpPr/>
          <p:nvPr/>
        </p:nvSpPr>
        <p:spPr>
          <a:xfrm rot="5400000">
            <a:off x="-24581" y="614517"/>
            <a:ext cx="452284" cy="403123"/>
          </a:xfrm>
          <a:prstGeom prst="triangle">
            <a:avLst/>
          </a:prstGeom>
          <a:solidFill>
            <a:schemeClr val="bg2">
              <a:lumMod val="60000"/>
              <a:lumOff val="40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EB00B6-EF76-366D-0E23-6A5243C87425}"/>
              </a:ext>
            </a:extLst>
          </p:cNvPr>
          <p:cNvSpPr txBox="1"/>
          <p:nvPr/>
        </p:nvSpPr>
        <p:spPr>
          <a:xfrm>
            <a:off x="936173" y="1600201"/>
            <a:ext cx="8479971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3D web-based autonomous driving simulator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safe and realistic vehicle navigation. </a:t>
            </a:r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the A * path planning algorithm to generate the shortest and most efficient route.</a:t>
            </a:r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Integrate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LiDAR-based obstacle detection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real-time detection of vehicles, pedestrians, and road obstacles.</a:t>
            </a:r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Enable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autonomous driving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 intelligent steering, speed control, obstacle avoidance, and traffic signal compliance.</a:t>
            </a:r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Record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telemetry data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such as speed, steering angle, braking events, and route completion for performance analysis. 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a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lightweight, modular, and cost-effective platform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education, research, and future development of autonomous driving technologies. </a:t>
            </a:r>
          </a:p>
        </p:txBody>
      </p:sp>
    </p:spTree>
    <p:extLst>
      <p:ext uri="{BB962C8B-B14F-4D97-AF65-F5344CB8AC3E}">
        <p14:creationId xmlns:p14="http://schemas.microsoft.com/office/powerpoint/2010/main" val="25801928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B62AEBC1-03D7-0B45-4223-17E79A12DC50}"/>
              </a:ext>
            </a:extLst>
          </p:cNvPr>
          <p:cNvSpPr/>
          <p:nvPr/>
        </p:nvSpPr>
        <p:spPr>
          <a:xfrm>
            <a:off x="-2122027" y="-3159746"/>
            <a:ext cx="12018381" cy="12211149"/>
          </a:xfrm>
          <a:prstGeom prst="ellipse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6268BA-1FDF-673E-3DD1-6C5592F23BE0}"/>
              </a:ext>
            </a:extLst>
          </p:cNvPr>
          <p:cNvSpPr txBox="1"/>
          <p:nvPr/>
        </p:nvSpPr>
        <p:spPr>
          <a:xfrm>
            <a:off x="764067" y="308246"/>
            <a:ext cx="729342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b="1" dirty="0">
                <a:latin typeface="Arial Rounded MT Bold" panose="020F0704030504030204" pitchFamily="34" charset="0"/>
              </a:rPr>
              <a:t>Technology Used</a:t>
            </a:r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66B3E7CF-1C52-EB88-5F90-D624866AE0D2}"/>
              </a:ext>
            </a:extLst>
          </p:cNvPr>
          <p:cNvSpPr/>
          <p:nvPr/>
        </p:nvSpPr>
        <p:spPr>
          <a:xfrm rot="5400000">
            <a:off x="-24581" y="614517"/>
            <a:ext cx="452284" cy="403123"/>
          </a:xfrm>
          <a:prstGeom prst="triangle">
            <a:avLst/>
          </a:prstGeom>
          <a:solidFill>
            <a:schemeClr val="bg2">
              <a:lumMod val="60000"/>
              <a:lumOff val="40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7B537EA-6AB5-175F-CC18-F08626FCAA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9436556"/>
              </p:ext>
            </p:extLst>
          </p:nvPr>
        </p:nvGraphicFramePr>
        <p:xfrm>
          <a:off x="1053297" y="1670190"/>
          <a:ext cx="7293429" cy="277580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654638">
                  <a:extLst>
                    <a:ext uri="{9D8B030D-6E8A-4147-A177-3AD203B41FA5}">
                      <a16:colId xmlns:a16="http://schemas.microsoft.com/office/drawing/2014/main" val="1276257773"/>
                    </a:ext>
                  </a:extLst>
                </a:gridCol>
                <a:gridCol w="3638791">
                  <a:extLst>
                    <a:ext uri="{9D8B030D-6E8A-4147-A177-3AD203B41FA5}">
                      <a16:colId xmlns:a16="http://schemas.microsoft.com/office/drawing/2014/main" val="3230075076"/>
                    </a:ext>
                  </a:extLst>
                </a:gridCol>
              </a:tblGrid>
              <a:tr h="38643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 b="1" dirty="0">
                          <a:solidFill>
                            <a:schemeClr val="accent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Technology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 b="1" dirty="0">
                          <a:solidFill>
                            <a:schemeClr val="accent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Purpose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26030097"/>
                  </a:ext>
                </a:extLst>
              </a:tr>
              <a:tr h="38643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Three.js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3D Visualization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5105299"/>
                  </a:ext>
                </a:extLst>
              </a:tr>
              <a:tr h="38643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Python Flask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Backend Server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62313560"/>
                  </a:ext>
                </a:extLst>
              </a:tr>
              <a:tr h="38643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Frontend Development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9256468"/>
                  </a:ext>
                </a:extLst>
              </a:tr>
              <a:tr h="38643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JavaScript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Frontend Logic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6576894"/>
                  </a:ext>
                </a:extLst>
              </a:tr>
              <a:tr h="38643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HTML/CSS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User Interface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37317330"/>
                  </a:ext>
                </a:extLst>
              </a:tr>
              <a:tr h="38643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Python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Backend &amp; AI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522207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F9D31231-4121-F393-37C6-9CA645D2789E}"/>
              </a:ext>
            </a:extLst>
          </p:cNvPr>
          <p:cNvSpPr txBox="1"/>
          <p:nvPr/>
        </p:nvSpPr>
        <p:spPr>
          <a:xfrm>
            <a:off x="1770926" y="4445994"/>
            <a:ext cx="8229600" cy="2542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 Stack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Frontend: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Three.js, Vite, HTML, CSS, JavaScript </a:t>
            </a:r>
          </a:p>
          <a:p>
            <a:pPr>
              <a:lnSpc>
                <a:spcPct val="150000"/>
              </a:lnSpc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Python Flask </a:t>
            </a:r>
          </a:p>
          <a:p>
            <a:pPr>
              <a:lnSpc>
                <a:spcPct val="150000"/>
              </a:lnSpc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A*, Random Forest, Reinforcement Learning </a:t>
            </a:r>
          </a:p>
          <a:p>
            <a:pPr>
              <a:lnSpc>
                <a:spcPct val="150000"/>
              </a:lnSpc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Sensor: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LiDAR (Ray Casting)</a:t>
            </a:r>
          </a:p>
          <a:p>
            <a:pPr>
              <a:lnSpc>
                <a:spcPct val="150000"/>
              </a:lnSpc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27397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8667BA4-E2C4-9EC4-87C0-A1C6877D9897}"/>
              </a:ext>
            </a:extLst>
          </p:cNvPr>
          <p:cNvSpPr txBox="1"/>
          <p:nvPr/>
        </p:nvSpPr>
        <p:spPr>
          <a:xfrm>
            <a:off x="729343" y="262080"/>
            <a:ext cx="814843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b="1" dirty="0">
                <a:latin typeface="Arial Rounded MT Bold" panose="020F0704030504030204" pitchFamily="34" charset="0"/>
              </a:rPr>
              <a:t>System Architecture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5CCE9F-42BB-4B4D-5523-4593268C791B}"/>
              </a:ext>
            </a:extLst>
          </p:cNvPr>
          <p:cNvSpPr txBox="1"/>
          <p:nvPr/>
        </p:nvSpPr>
        <p:spPr>
          <a:xfrm>
            <a:off x="783771" y="1425274"/>
            <a:ext cx="3592286" cy="5016758"/>
          </a:xfrm>
          <a:prstGeom prst="rect">
            <a:avLst/>
          </a:prstGeom>
          <a:noFill/>
          <a:ln w="19050">
            <a:solidFill>
              <a:schemeClr val="bg2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IN" sz="1600" dirty="0"/>
              <a:t>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</a:t>
            </a:r>
          </a:p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│</a:t>
            </a:r>
          </a:p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▼</a:t>
            </a:r>
          </a:p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Frontend (Three.js + Vite)</a:t>
            </a:r>
          </a:p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│</a:t>
            </a:r>
          </a:p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REST API Communication</a:t>
            </a:r>
          </a:p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│</a:t>
            </a:r>
          </a:p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▼</a:t>
            </a:r>
          </a:p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Backend (Python Flask)</a:t>
            </a:r>
          </a:p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│</a:t>
            </a:r>
          </a:p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┌────────────────────</a:t>
            </a:r>
          </a:p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▼            ▼            ▼</a:t>
            </a:r>
          </a:p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A* Route   LiDAR &amp; AI   Telemetry</a:t>
            </a:r>
          </a:p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Planning   Decision      Analysis</a:t>
            </a:r>
          </a:p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│</a:t>
            </a:r>
          </a:p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▼</a:t>
            </a:r>
          </a:p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Autonomous Vehicle Control</a:t>
            </a:r>
          </a:p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│</a:t>
            </a:r>
          </a:p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▼</a:t>
            </a:r>
          </a:p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3D Simulation Environment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A33D34F-C180-1889-FDAD-58DC09F46FA3}"/>
              </a:ext>
            </a:extLst>
          </p:cNvPr>
          <p:cNvCxnSpPr/>
          <p:nvPr/>
        </p:nvCxnSpPr>
        <p:spPr>
          <a:xfrm>
            <a:off x="4136572" y="4027714"/>
            <a:ext cx="0" cy="1524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A310791-AD70-CC9A-F2F8-57637D2AAED1}"/>
              </a:ext>
            </a:extLst>
          </p:cNvPr>
          <p:cNvSpPr txBox="1"/>
          <p:nvPr/>
        </p:nvSpPr>
        <p:spPr>
          <a:xfrm>
            <a:off x="4876801" y="1807029"/>
            <a:ext cx="6716486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800"/>
              </a:spcAft>
              <a:buFont typeface="Wingdings" panose="05000000000000000000" pitchFamily="2" charset="2"/>
              <a:buChar char="q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Interface: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Allows users to select the source, destination, and simulation settings. </a:t>
            </a:r>
          </a:p>
          <a:p>
            <a:pPr marL="285750" indent="-285750">
              <a:spcAft>
                <a:spcPts val="1800"/>
              </a:spcAft>
              <a:buFont typeface="Wingdings" panose="05000000000000000000" pitchFamily="2" charset="2"/>
              <a:buChar char="q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Frontend (Three.js + Vite):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Renders the 3D environment, roads, vehicles, and animations. </a:t>
            </a:r>
          </a:p>
          <a:p>
            <a:pPr marL="285750" indent="-285750">
              <a:spcAft>
                <a:spcPts val="1800"/>
              </a:spcAft>
              <a:buFont typeface="Wingdings" panose="05000000000000000000" pitchFamily="2" charset="2"/>
              <a:buChar char="q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 (Python Flask):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Handles route generation, telemetry processing, and communication with the frontend. </a:t>
            </a:r>
          </a:p>
          <a:p>
            <a:pPr marL="285750" indent="-285750">
              <a:spcAft>
                <a:spcPts val="1800"/>
              </a:spcAft>
              <a:buFont typeface="Wingdings" panose="05000000000000000000" pitchFamily="2" charset="2"/>
              <a:buChar char="q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Modules: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Perform A* path planning,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LiDAR-based obstacle detection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autonomous driving decisions.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Telemetry Module: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Records speed, steering angle, braking, collision count, and route completion for performance evaluation.</a:t>
            </a:r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33920F10-05C0-583A-797F-34FBB46F5CD4}"/>
              </a:ext>
            </a:extLst>
          </p:cNvPr>
          <p:cNvSpPr/>
          <p:nvPr/>
        </p:nvSpPr>
        <p:spPr>
          <a:xfrm rot="5400000">
            <a:off x="-24581" y="614517"/>
            <a:ext cx="452284" cy="403123"/>
          </a:xfrm>
          <a:prstGeom prst="triangle">
            <a:avLst/>
          </a:prstGeom>
          <a:solidFill>
            <a:schemeClr val="bg2">
              <a:lumMod val="60000"/>
              <a:lumOff val="40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6804E92-6E3F-F51A-4A30-8C9D72BD0F34}"/>
              </a:ext>
            </a:extLst>
          </p:cNvPr>
          <p:cNvSpPr/>
          <p:nvPr/>
        </p:nvSpPr>
        <p:spPr>
          <a:xfrm>
            <a:off x="-2423324" y="1794673"/>
            <a:ext cx="2287499" cy="621688"/>
          </a:xfrm>
          <a:prstGeom prst="round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LiDAR Detects </a:t>
            </a:r>
          </a:p>
          <a:p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Obstacles &amp; Traffic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B4C75890-6E9A-587B-CBD4-A5AC9E649B6D}"/>
              </a:ext>
            </a:extLst>
          </p:cNvPr>
          <p:cNvSpPr/>
          <p:nvPr/>
        </p:nvSpPr>
        <p:spPr>
          <a:xfrm>
            <a:off x="-2358756" y="1785972"/>
            <a:ext cx="2095018" cy="621687"/>
          </a:xfrm>
          <a:prstGeom prst="round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 Controls </a:t>
            </a:r>
          </a:p>
          <a:p>
            <a:pPr algn="ctr"/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Steering &amp; Speed</a:t>
            </a:r>
          </a:p>
          <a:p>
            <a:pPr algn="ctr"/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91AEA45-0CB4-F0B7-37F4-1B114A64558D}"/>
              </a:ext>
            </a:extLst>
          </p:cNvPr>
          <p:cNvSpPr/>
          <p:nvPr/>
        </p:nvSpPr>
        <p:spPr>
          <a:xfrm>
            <a:off x="-2496234" y="1795064"/>
            <a:ext cx="2311767" cy="577301"/>
          </a:xfrm>
          <a:prstGeom prst="round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Reach Destination </a:t>
            </a:r>
          </a:p>
          <a:p>
            <a:pPr algn="ctr"/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&amp; Generate Results</a:t>
            </a:r>
          </a:p>
          <a:p>
            <a:pPr algn="ctr"/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EE11451-C31F-6254-99E3-80C4896B9ECF}"/>
              </a:ext>
            </a:extLst>
          </p:cNvPr>
          <p:cNvCxnSpPr>
            <a:stCxn id="18" idx="3"/>
            <a:endCxn id="19" idx="1"/>
          </p:cNvCxnSpPr>
          <p:nvPr/>
        </p:nvCxnSpPr>
        <p:spPr>
          <a:xfrm flipH="1">
            <a:off x="-1741219" y="2082994"/>
            <a:ext cx="1362580" cy="534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6A9DDA8-1360-C5B0-90B6-6D2B0CB02B44}"/>
              </a:ext>
            </a:extLst>
          </p:cNvPr>
          <p:cNvCxnSpPr>
            <a:stCxn id="19" idx="3"/>
            <a:endCxn id="20" idx="1"/>
          </p:cNvCxnSpPr>
          <p:nvPr/>
        </p:nvCxnSpPr>
        <p:spPr>
          <a:xfrm flipH="1">
            <a:off x="-2161945" y="2136412"/>
            <a:ext cx="1728666" cy="281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C6C11FD-9346-6858-4498-D957D12ADE58}"/>
              </a:ext>
            </a:extLst>
          </p:cNvPr>
          <p:cNvCxnSpPr>
            <a:cxnSpLocks/>
            <a:stCxn id="23" idx="1"/>
            <a:endCxn id="24" idx="3"/>
          </p:cNvCxnSpPr>
          <p:nvPr/>
        </p:nvCxnSpPr>
        <p:spPr>
          <a:xfrm flipV="1">
            <a:off x="-2423324" y="2096816"/>
            <a:ext cx="2159586" cy="8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E10053D3-1B38-0F59-2E11-CBBC92F1D4D0}"/>
              </a:ext>
            </a:extLst>
          </p:cNvPr>
          <p:cNvSpPr/>
          <p:nvPr/>
        </p:nvSpPr>
        <p:spPr>
          <a:xfrm>
            <a:off x="-2191090" y="1807029"/>
            <a:ext cx="1898248" cy="566057"/>
          </a:xfrm>
          <a:prstGeom prst="round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Collect </a:t>
            </a:r>
          </a:p>
          <a:p>
            <a:pPr algn="ctr"/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Telemetry Data</a:t>
            </a:r>
          </a:p>
          <a:p>
            <a:pPr algn="ctr"/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09467A14-030C-A4C4-6A9B-EFBDBF6F5F60}"/>
              </a:ext>
            </a:extLst>
          </p:cNvPr>
          <p:cNvSpPr/>
          <p:nvPr/>
        </p:nvSpPr>
        <p:spPr>
          <a:xfrm>
            <a:off x="-2416520" y="1807029"/>
            <a:ext cx="2305016" cy="621687"/>
          </a:xfrm>
          <a:prstGeom prst="round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Activate Autonomous Mode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B1544A8-2C42-FC55-6E79-8257F4EDD55C}"/>
              </a:ext>
            </a:extLst>
          </p:cNvPr>
          <p:cNvSpPr/>
          <p:nvPr/>
        </p:nvSpPr>
        <p:spPr>
          <a:xfrm>
            <a:off x="-2237707" y="1849649"/>
            <a:ext cx="2095018" cy="566057"/>
          </a:xfrm>
          <a:prstGeom prst="round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Generate Shortest </a:t>
            </a:r>
          </a:p>
          <a:p>
            <a:pPr algn="ctr"/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 (A*)</a:t>
            </a:r>
          </a:p>
          <a:p>
            <a:pPr algn="ctr"/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03A5AB10-AC40-1998-1ABD-D1013F6DF005}"/>
              </a:ext>
            </a:extLst>
          </p:cNvPr>
          <p:cNvSpPr/>
          <p:nvPr/>
        </p:nvSpPr>
        <p:spPr>
          <a:xfrm>
            <a:off x="-2161945" y="1862444"/>
            <a:ext cx="1682049" cy="604171"/>
          </a:xfrm>
          <a:prstGeom prst="round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Select Source &amp; Destination</a:t>
            </a:r>
          </a:p>
          <a:p>
            <a:pPr algn="ctr"/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F916219-F631-DA56-F21C-2D7105365EF3}"/>
              </a:ext>
            </a:extLst>
          </p:cNvPr>
          <p:cNvSpPr/>
          <p:nvPr/>
        </p:nvSpPr>
        <p:spPr>
          <a:xfrm>
            <a:off x="-1741219" y="1847761"/>
            <a:ext cx="1307940" cy="577301"/>
          </a:xfrm>
          <a:prstGeom prst="round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Initialize</a:t>
            </a:r>
          </a:p>
          <a:p>
            <a:pPr algn="ctr"/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System</a:t>
            </a:r>
          </a:p>
          <a:p>
            <a:pPr algn="ctr"/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FBA58B7-C8DD-CAB3-B386-349A31A2AE02}"/>
              </a:ext>
            </a:extLst>
          </p:cNvPr>
          <p:cNvSpPr/>
          <p:nvPr/>
        </p:nvSpPr>
        <p:spPr>
          <a:xfrm>
            <a:off x="-1686579" y="1794343"/>
            <a:ext cx="1307940" cy="577301"/>
          </a:xfrm>
          <a:prstGeom prst="round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Start Simulation</a:t>
            </a:r>
          </a:p>
          <a:p>
            <a:pPr algn="ctr"/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42422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90AB17C-3EAA-DAFD-E4D7-FDC1AE9A2818}"/>
              </a:ext>
            </a:extLst>
          </p:cNvPr>
          <p:cNvSpPr/>
          <p:nvPr/>
        </p:nvSpPr>
        <p:spPr>
          <a:xfrm>
            <a:off x="510868" y="1868308"/>
            <a:ext cx="1307940" cy="577301"/>
          </a:xfrm>
          <a:prstGeom prst="round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Start Simulation</a:t>
            </a:r>
          </a:p>
          <a:p>
            <a:pPr algn="ctr"/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CB9C29A-19B7-82F0-3071-D82747E0E701}"/>
              </a:ext>
            </a:extLst>
          </p:cNvPr>
          <p:cNvSpPr/>
          <p:nvPr/>
        </p:nvSpPr>
        <p:spPr>
          <a:xfrm>
            <a:off x="2068214" y="1865027"/>
            <a:ext cx="1307940" cy="577301"/>
          </a:xfrm>
          <a:prstGeom prst="round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Initialize</a:t>
            </a:r>
          </a:p>
          <a:p>
            <a:pPr algn="ctr"/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System</a:t>
            </a:r>
          </a:p>
          <a:p>
            <a:pPr algn="ctr"/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A9056BA-4633-D9DA-46AF-F12B78FB814F}"/>
              </a:ext>
            </a:extLst>
          </p:cNvPr>
          <p:cNvSpPr/>
          <p:nvPr/>
        </p:nvSpPr>
        <p:spPr>
          <a:xfrm>
            <a:off x="3649195" y="1845969"/>
            <a:ext cx="1682049" cy="604171"/>
          </a:xfrm>
          <a:prstGeom prst="round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Select Source &amp; Destination</a:t>
            </a:r>
          </a:p>
          <a:p>
            <a:pPr algn="ctr"/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52A4C50-B872-94D4-B89C-5E1C91DC5283}"/>
              </a:ext>
            </a:extLst>
          </p:cNvPr>
          <p:cNvSpPr/>
          <p:nvPr/>
        </p:nvSpPr>
        <p:spPr>
          <a:xfrm>
            <a:off x="5658504" y="1865027"/>
            <a:ext cx="2095018" cy="566057"/>
          </a:xfrm>
          <a:prstGeom prst="round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Generate Shortest </a:t>
            </a:r>
          </a:p>
          <a:p>
            <a:pPr algn="ctr"/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 (A*)</a:t>
            </a:r>
          </a:p>
          <a:p>
            <a:pPr algn="ctr"/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066FEF2-4679-E31E-6220-509DA1562E1E}"/>
              </a:ext>
            </a:extLst>
          </p:cNvPr>
          <p:cNvSpPr/>
          <p:nvPr/>
        </p:nvSpPr>
        <p:spPr>
          <a:xfrm>
            <a:off x="8080782" y="1837213"/>
            <a:ext cx="2305016" cy="621687"/>
          </a:xfrm>
          <a:prstGeom prst="round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Activate Autonomous Mode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521B595-02E7-9F4E-5E1F-616F2B0F96D1}"/>
              </a:ext>
            </a:extLst>
          </p:cNvPr>
          <p:cNvSpPr/>
          <p:nvPr/>
        </p:nvSpPr>
        <p:spPr>
          <a:xfrm>
            <a:off x="9548303" y="2783782"/>
            <a:ext cx="2287499" cy="621688"/>
          </a:xfrm>
          <a:prstGeom prst="round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LiDAR Detects </a:t>
            </a:r>
          </a:p>
          <a:p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Obstacles &amp; Traffic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41E6192-C447-8EAB-F969-FD76660EA28D}"/>
              </a:ext>
            </a:extLst>
          </p:cNvPr>
          <p:cNvSpPr/>
          <p:nvPr/>
        </p:nvSpPr>
        <p:spPr>
          <a:xfrm>
            <a:off x="7033273" y="2783782"/>
            <a:ext cx="2095018" cy="621687"/>
          </a:xfrm>
          <a:prstGeom prst="round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 Controls </a:t>
            </a:r>
          </a:p>
          <a:p>
            <a:pPr algn="ctr"/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Steering &amp; Speed</a:t>
            </a:r>
          </a:p>
          <a:p>
            <a:pPr algn="ctr"/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55805D-ED1B-33EA-D9FC-D715878F643B}"/>
              </a:ext>
            </a:extLst>
          </p:cNvPr>
          <p:cNvSpPr/>
          <p:nvPr/>
        </p:nvSpPr>
        <p:spPr>
          <a:xfrm>
            <a:off x="4709380" y="2811596"/>
            <a:ext cx="1898248" cy="566057"/>
          </a:xfrm>
          <a:prstGeom prst="round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Collect </a:t>
            </a:r>
          </a:p>
          <a:p>
            <a:pPr algn="ctr"/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Telemetry Data</a:t>
            </a:r>
          </a:p>
          <a:p>
            <a:pPr algn="ctr"/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F4B70FF-7909-C73C-EDFB-9FDD6CE894D1}"/>
              </a:ext>
            </a:extLst>
          </p:cNvPr>
          <p:cNvSpPr/>
          <p:nvPr/>
        </p:nvSpPr>
        <p:spPr>
          <a:xfrm>
            <a:off x="2003522" y="2800352"/>
            <a:ext cx="2311767" cy="577301"/>
          </a:xfrm>
          <a:prstGeom prst="round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Reach Destination </a:t>
            </a:r>
          </a:p>
          <a:p>
            <a:pPr algn="ctr"/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&amp; Generate Results</a:t>
            </a:r>
          </a:p>
          <a:p>
            <a:pPr algn="ctr"/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6A72A98-FF2A-8646-2498-25A0967CED8E}"/>
              </a:ext>
            </a:extLst>
          </p:cNvPr>
          <p:cNvCxnSpPr>
            <a:stCxn id="6" idx="3"/>
            <a:endCxn id="7" idx="1"/>
          </p:cNvCxnSpPr>
          <p:nvPr/>
        </p:nvCxnSpPr>
        <p:spPr>
          <a:xfrm flipV="1">
            <a:off x="1818808" y="2153678"/>
            <a:ext cx="249406" cy="32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B453680-FAA2-55D4-CDE1-90A6BF8C723E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3376154" y="2148055"/>
            <a:ext cx="273041" cy="56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E644572-6E6C-109E-0361-D347A128F9D5}"/>
              </a:ext>
            </a:extLst>
          </p:cNvPr>
          <p:cNvCxnSpPr/>
          <p:nvPr/>
        </p:nvCxnSpPr>
        <p:spPr>
          <a:xfrm flipV="1">
            <a:off x="5331244" y="2206467"/>
            <a:ext cx="32726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AF46C55-5C0F-9FEB-26C6-8369E93DD9C2}"/>
              </a:ext>
            </a:extLst>
          </p:cNvPr>
          <p:cNvCxnSpPr/>
          <p:nvPr/>
        </p:nvCxnSpPr>
        <p:spPr>
          <a:xfrm flipV="1">
            <a:off x="7753522" y="2206467"/>
            <a:ext cx="32726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8C9EDED-31C8-554A-B757-EBB19D5B4E20}"/>
              </a:ext>
            </a:extLst>
          </p:cNvPr>
          <p:cNvCxnSpPr>
            <a:cxnSpLocks/>
          </p:cNvCxnSpPr>
          <p:nvPr/>
        </p:nvCxnSpPr>
        <p:spPr>
          <a:xfrm>
            <a:off x="10119856" y="2460722"/>
            <a:ext cx="0" cy="3230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E7B1E89-9750-9557-DABF-F08D6505917C}"/>
              </a:ext>
            </a:extLst>
          </p:cNvPr>
          <p:cNvCxnSpPr>
            <a:stCxn id="12" idx="1"/>
            <a:endCxn id="13" idx="3"/>
          </p:cNvCxnSpPr>
          <p:nvPr/>
        </p:nvCxnSpPr>
        <p:spPr>
          <a:xfrm flipH="1">
            <a:off x="9128291" y="3094626"/>
            <a:ext cx="42001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3E2A365-7C1C-BFF2-00C9-FF11056105AF}"/>
              </a:ext>
            </a:extLst>
          </p:cNvPr>
          <p:cNvCxnSpPr/>
          <p:nvPr/>
        </p:nvCxnSpPr>
        <p:spPr>
          <a:xfrm flipH="1">
            <a:off x="6635126" y="3066811"/>
            <a:ext cx="41684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03C77AF-65DC-45C8-6C5F-EFEA9E9029FB}"/>
              </a:ext>
            </a:extLst>
          </p:cNvPr>
          <p:cNvCxnSpPr>
            <a:cxnSpLocks/>
          </p:cNvCxnSpPr>
          <p:nvPr/>
        </p:nvCxnSpPr>
        <p:spPr>
          <a:xfrm flipH="1">
            <a:off x="4325762" y="3059420"/>
            <a:ext cx="383618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C0CDD736-A760-2ED4-90D5-E2787510F374}"/>
              </a:ext>
            </a:extLst>
          </p:cNvPr>
          <p:cNvSpPr txBox="1"/>
          <p:nvPr/>
        </p:nvSpPr>
        <p:spPr>
          <a:xfrm>
            <a:off x="616764" y="334843"/>
            <a:ext cx="976903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b="1" dirty="0">
                <a:latin typeface="Arial Rounded MT Bold" panose="020F0704030504030204" pitchFamily="34" charset="0"/>
              </a:rPr>
              <a:t>Working Methodology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A8BB54B-1944-8749-2C46-094148F2E22F}"/>
              </a:ext>
            </a:extLst>
          </p:cNvPr>
          <p:cNvSpPr txBox="1"/>
          <p:nvPr/>
        </p:nvSpPr>
        <p:spPr>
          <a:xfrm>
            <a:off x="510868" y="3755681"/>
            <a:ext cx="10729732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q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Initialization: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Load the 3D environment, road network, traffic, and vehicle.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Route Generation: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A* algorithm computes the shortest path between the selected locations.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Autonomous Navigation: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vehicle follows the generated route using the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Pure Pursuit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steering controller.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Environment Perception: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LiDAR continuously detects vehicles, pedestrians, traffic signals, and obstacles.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Decision Making: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AI adjusts steering, speed, braking, and obstacle avoidance in real time.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Telemetry Analysis: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Vehicle speed, steering angle, braking events, collisions, and route completion are 						       recorded for performance evaluation. </a:t>
            </a:r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D73FA10A-B1FA-FAA1-53D9-94399C44A414}"/>
              </a:ext>
            </a:extLst>
          </p:cNvPr>
          <p:cNvSpPr/>
          <p:nvPr/>
        </p:nvSpPr>
        <p:spPr>
          <a:xfrm rot="5400000">
            <a:off x="-24581" y="614517"/>
            <a:ext cx="452284" cy="403123"/>
          </a:xfrm>
          <a:prstGeom prst="triangle">
            <a:avLst/>
          </a:prstGeom>
          <a:solidFill>
            <a:schemeClr val="bg2">
              <a:lumMod val="60000"/>
              <a:lumOff val="40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34487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E4E23C0-495E-202A-569E-9F4F2974F047}"/>
              </a:ext>
            </a:extLst>
          </p:cNvPr>
          <p:cNvCxnSpPr>
            <a:stCxn id="8" idx="2"/>
          </p:cNvCxnSpPr>
          <p:nvPr/>
        </p:nvCxnSpPr>
        <p:spPr>
          <a:xfrm>
            <a:off x="2013995" y="1747777"/>
            <a:ext cx="67277" cy="45499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350A191-BA04-935F-C364-1147B4BF2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465" y="158837"/>
            <a:ext cx="10515600" cy="1325563"/>
          </a:xfrm>
        </p:spPr>
        <p:txBody>
          <a:bodyPr>
            <a:normAutofit/>
          </a:bodyPr>
          <a:lstStyle/>
          <a:p>
            <a:r>
              <a:rPr lang="en-IN" sz="6000" b="1" dirty="0">
                <a:latin typeface="Arial Rounded MT Bold" panose="020F0704030504030204" pitchFamily="34" charset="0"/>
                <a:cs typeface="Times New Roman" panose="02020603050405020304" pitchFamily="18" charset="0"/>
              </a:rPr>
              <a:t>Flow of Work 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F0218A2B-6D45-7A00-C51C-2F7C073EFEA6}"/>
              </a:ext>
            </a:extLst>
          </p:cNvPr>
          <p:cNvSpPr/>
          <p:nvPr/>
        </p:nvSpPr>
        <p:spPr>
          <a:xfrm rot="5400000">
            <a:off x="-24581" y="614517"/>
            <a:ext cx="452284" cy="403123"/>
          </a:xfrm>
          <a:prstGeom prst="triangle">
            <a:avLst/>
          </a:prstGeom>
          <a:solidFill>
            <a:schemeClr val="bg2">
              <a:lumMod val="60000"/>
              <a:lumOff val="40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C524CCB-B60E-B158-BADB-BCCC2713BF45}"/>
              </a:ext>
            </a:extLst>
          </p:cNvPr>
          <p:cNvSpPr/>
          <p:nvPr/>
        </p:nvSpPr>
        <p:spPr>
          <a:xfrm>
            <a:off x="1371600" y="1519893"/>
            <a:ext cx="1284790" cy="227884"/>
          </a:xfrm>
          <a:prstGeom prst="round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Start</a:t>
            </a: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ACC695C-10F2-F6DE-00B3-2C20770251AF}"/>
              </a:ext>
            </a:extLst>
          </p:cNvPr>
          <p:cNvSpPr/>
          <p:nvPr/>
        </p:nvSpPr>
        <p:spPr>
          <a:xfrm>
            <a:off x="528088" y="2456817"/>
            <a:ext cx="3273709" cy="288558"/>
          </a:xfrm>
          <a:prstGeom prst="round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Select Source &amp; Destination</a:t>
            </a:r>
          </a:p>
          <a:p>
            <a:pPr algn="ctr"/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032196A-B079-17DB-EC63-061D1E49C315}"/>
              </a:ext>
            </a:extLst>
          </p:cNvPr>
          <p:cNvSpPr/>
          <p:nvPr/>
        </p:nvSpPr>
        <p:spPr>
          <a:xfrm>
            <a:off x="971308" y="1947397"/>
            <a:ext cx="2260922" cy="335666"/>
          </a:xfrm>
          <a:prstGeom prst="round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System Initialization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59E8BB-54A5-F0E7-D46D-2292F738A2A5}"/>
              </a:ext>
            </a:extLst>
          </p:cNvPr>
          <p:cNvSpPr/>
          <p:nvPr/>
        </p:nvSpPr>
        <p:spPr>
          <a:xfrm>
            <a:off x="1095976" y="2931228"/>
            <a:ext cx="2011585" cy="274794"/>
          </a:xfrm>
          <a:prstGeom prst="round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A* Route Planning</a:t>
            </a:r>
          </a:p>
          <a:p>
            <a:pPr algn="ctr"/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09A8AA0-3C09-EB5C-184A-41E0A9ADC8E0}"/>
              </a:ext>
            </a:extLst>
          </p:cNvPr>
          <p:cNvSpPr/>
          <p:nvPr/>
        </p:nvSpPr>
        <p:spPr>
          <a:xfrm>
            <a:off x="769466" y="3407474"/>
            <a:ext cx="2790952" cy="335667"/>
          </a:xfrm>
          <a:prstGeom prst="round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Autonomous Navigation</a:t>
            </a:r>
          </a:p>
          <a:p>
            <a:pPr algn="ctr"/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56C577B-89D6-ECBC-5250-78DF35371244}"/>
              </a:ext>
            </a:extLst>
          </p:cNvPr>
          <p:cNvSpPr/>
          <p:nvPr/>
        </p:nvSpPr>
        <p:spPr>
          <a:xfrm>
            <a:off x="863996" y="3903130"/>
            <a:ext cx="2601892" cy="335667"/>
          </a:xfrm>
          <a:prstGeom prst="round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LiDAR Sensor Detection</a:t>
            </a:r>
          </a:p>
          <a:p>
            <a:pPr algn="ctr"/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5873408-984F-B751-3319-35211B2716C2}"/>
              </a:ext>
            </a:extLst>
          </p:cNvPr>
          <p:cNvSpPr/>
          <p:nvPr/>
        </p:nvSpPr>
        <p:spPr>
          <a:xfrm>
            <a:off x="691465" y="4993686"/>
            <a:ext cx="3073079" cy="623165"/>
          </a:xfrm>
          <a:prstGeom prst="round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 Decision Making</a:t>
            </a:r>
          </a:p>
          <a:p>
            <a:pPr algn="ctr"/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(Steering • Speed • Braking)</a:t>
            </a:r>
          </a:p>
          <a:p>
            <a:pPr algn="ctr"/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A718702-8128-9856-58D6-EDD61ED16B54}"/>
              </a:ext>
            </a:extLst>
          </p:cNvPr>
          <p:cNvSpPr/>
          <p:nvPr/>
        </p:nvSpPr>
        <p:spPr>
          <a:xfrm>
            <a:off x="1054983" y="4448408"/>
            <a:ext cx="2052578" cy="335667"/>
          </a:xfrm>
          <a:prstGeom prst="round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Vehicle Movement</a:t>
            </a:r>
          </a:p>
          <a:p>
            <a:pPr algn="ctr"/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572ECA78-91C9-E831-3AD6-0DD1323F439B}"/>
              </a:ext>
            </a:extLst>
          </p:cNvPr>
          <p:cNvSpPr/>
          <p:nvPr/>
        </p:nvSpPr>
        <p:spPr>
          <a:xfrm>
            <a:off x="1002413" y="5826462"/>
            <a:ext cx="2558005" cy="261616"/>
          </a:xfrm>
          <a:prstGeom prst="round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Telemetry Collection</a:t>
            </a:r>
          </a:p>
          <a:p>
            <a:pPr algn="ctr"/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074B415B-1D90-FC23-E43B-6400E08172AC}"/>
              </a:ext>
            </a:extLst>
          </p:cNvPr>
          <p:cNvSpPr/>
          <p:nvPr/>
        </p:nvSpPr>
        <p:spPr>
          <a:xfrm>
            <a:off x="1054983" y="6297690"/>
            <a:ext cx="2558005" cy="300784"/>
          </a:xfrm>
          <a:prstGeom prst="round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ctr"/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Performance Analysis</a:t>
            </a:r>
          </a:p>
          <a:p>
            <a:pPr algn="ctr"/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C5C4C9F-6866-2BD0-ACF9-024CBDB20AD6}"/>
              </a:ext>
            </a:extLst>
          </p:cNvPr>
          <p:cNvSpPr/>
          <p:nvPr/>
        </p:nvSpPr>
        <p:spPr>
          <a:xfrm>
            <a:off x="3929605" y="6297690"/>
            <a:ext cx="1284790" cy="300784"/>
          </a:xfrm>
          <a:prstGeom prst="round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99CD841-8515-DCFA-EE67-304F3F29666B}"/>
              </a:ext>
            </a:extLst>
          </p:cNvPr>
          <p:cNvCxnSpPr>
            <a:cxnSpLocks/>
            <a:stCxn id="28" idx="0"/>
            <a:endCxn id="28" idx="0"/>
          </p:cNvCxnSpPr>
          <p:nvPr/>
        </p:nvCxnSpPr>
        <p:spPr>
          <a:xfrm>
            <a:off x="4572000" y="6297690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ABD6DA0-BF4F-0E62-5B29-FCEB607DBBFF}"/>
              </a:ext>
            </a:extLst>
          </p:cNvPr>
          <p:cNvCxnSpPr>
            <a:stCxn id="26" idx="3"/>
            <a:endCxn id="28" idx="1"/>
          </p:cNvCxnSpPr>
          <p:nvPr/>
        </p:nvCxnSpPr>
        <p:spPr>
          <a:xfrm>
            <a:off x="3612988" y="6448082"/>
            <a:ext cx="31661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D5A869C9-542E-E6D5-497E-0644061F2FB5}"/>
              </a:ext>
            </a:extLst>
          </p:cNvPr>
          <p:cNvSpPr txBox="1"/>
          <p:nvPr/>
        </p:nvSpPr>
        <p:spPr>
          <a:xfrm>
            <a:off x="4603105" y="1574941"/>
            <a:ext cx="7433605" cy="4431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Initialization: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Load the 3D environment, road network, traffic, pedestrians, and autonomous vehicle. 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Route Generation: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A* algorithm computes the shortest path between the selected source and destination.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Autonomous Navigation: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vehicle follows the planned route using the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Pure Pursuit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steering controller.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LiDAR Detection: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Continuously scans for vehicles, pedestrians, traffic signals, and obstacles. 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Decision Making: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Adjusts steering, acceleration, braking, and speed to ensure safe driving.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Telemetry Collection: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Records vehicle speed, steering angle, braking events, collisions, and route completion.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 Analysis: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Evaluates navigation accuracy, obstacle avoidance, and overall system performance.</a:t>
            </a:r>
          </a:p>
        </p:txBody>
      </p:sp>
    </p:spTree>
    <p:extLst>
      <p:ext uri="{BB962C8B-B14F-4D97-AF65-F5344CB8AC3E}">
        <p14:creationId xmlns:p14="http://schemas.microsoft.com/office/powerpoint/2010/main" val="6208850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B5DD1-C937-406F-6DA0-53BC9DA2A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3947" y="411424"/>
            <a:ext cx="10515600" cy="1325563"/>
          </a:xfrm>
        </p:spPr>
        <p:txBody>
          <a:bodyPr>
            <a:normAutofit/>
          </a:bodyPr>
          <a:lstStyle/>
          <a:p>
            <a:r>
              <a:rPr lang="en-IN" sz="6000" b="1" dirty="0">
                <a:latin typeface="Arial Rounded MT Bold" panose="020F0704030504030204" pitchFamily="34" charset="0"/>
              </a:rPr>
              <a:t>Key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21A488-7310-18E6-5A73-D92E2EE176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797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🚗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Autonomous Navigation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Automatically drives the vehicle from the selected source to the destination.</a:t>
            </a:r>
          </a:p>
          <a:p>
            <a:pPr marL="0" indent="0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🗺️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A* Path Planning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Computes the shortest and most efficient route through the road network.</a:t>
            </a:r>
          </a:p>
          <a:p>
            <a:pPr marL="0" indent="0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📡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LiDAR-Based Obstacle Detection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Detects vehicles, pedestrians, road boundaries, and obstacles in real time.</a:t>
            </a:r>
          </a:p>
          <a:p>
            <a:pPr marL="0" indent="0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🚦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Traffic Management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Supports traffic signals, dynamic traffic vehicles, and pedestrian crossings. </a:t>
            </a:r>
          </a:p>
          <a:p>
            <a:pPr marL="0" indent="0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📊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Telemetry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Monitors vehicle speed, steering angle, braking events, travelled distance, and route completion. </a:t>
            </a:r>
          </a:p>
          <a:p>
            <a:pPr marL="0" indent="0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🌐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3D Web-Based Simulation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Built using Three.js and Python Flask with a modular client-server architecture for realistic visualization and easy scalability.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919ED76D-053D-A801-1BB4-175311B04594}"/>
              </a:ext>
            </a:extLst>
          </p:cNvPr>
          <p:cNvSpPr/>
          <p:nvPr/>
        </p:nvSpPr>
        <p:spPr>
          <a:xfrm rot="5400000">
            <a:off x="-24580" y="872644"/>
            <a:ext cx="452284" cy="403123"/>
          </a:xfrm>
          <a:prstGeom prst="triangle">
            <a:avLst/>
          </a:prstGeom>
          <a:solidFill>
            <a:schemeClr val="bg2">
              <a:lumMod val="60000"/>
              <a:lumOff val="40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085B7EA-4CAD-053C-A242-7F21AC9298BF}"/>
              </a:ext>
            </a:extLst>
          </p:cNvPr>
          <p:cNvSpPr/>
          <p:nvPr/>
        </p:nvSpPr>
        <p:spPr>
          <a:xfrm>
            <a:off x="-5069711" y="2006807"/>
            <a:ext cx="5069711" cy="952461"/>
          </a:xfrm>
          <a:prstGeom prst="round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(A-Star) Algorithm*</a:t>
            </a:r>
            <a:b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Calculates the shortest and most efficient route.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8BD89D3-394A-7B3D-2370-95E8A6B4EDCF}"/>
              </a:ext>
            </a:extLst>
          </p:cNvPr>
          <p:cNvSpPr/>
          <p:nvPr/>
        </p:nvSpPr>
        <p:spPr>
          <a:xfrm>
            <a:off x="12192000" y="2006807"/>
            <a:ext cx="5069710" cy="952461"/>
          </a:xfrm>
          <a:prstGeom prst="round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</a:rPr>
              <a:t>LiDAR (Ray Casting)</a:t>
            </a:r>
            <a:br>
              <a:rPr lang="en-IN" dirty="0">
                <a:solidFill>
                  <a:schemeClr val="tx1"/>
                </a:solidFill>
              </a:rPr>
            </a:br>
            <a:r>
              <a:rPr lang="en-IN" dirty="0">
                <a:solidFill>
                  <a:schemeClr val="tx1"/>
                </a:solidFill>
              </a:rPr>
              <a:t>Detects obstacles, pedestrians, and nearby vehicles.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9A89E23-A93D-F55E-3276-CC1208E31C2C}"/>
              </a:ext>
            </a:extLst>
          </p:cNvPr>
          <p:cNvSpPr/>
          <p:nvPr/>
        </p:nvSpPr>
        <p:spPr>
          <a:xfrm>
            <a:off x="-5069712" y="5172685"/>
            <a:ext cx="5069711" cy="952461"/>
          </a:xfrm>
          <a:prstGeom prst="round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</a:rPr>
              <a:t>Random Forest</a:t>
            </a:r>
            <a:br>
              <a:rPr lang="en-IN" dirty="0">
                <a:solidFill>
                  <a:schemeClr val="tx1"/>
                </a:solidFill>
              </a:rPr>
            </a:br>
            <a:r>
              <a:rPr lang="en-IN" dirty="0">
                <a:solidFill>
                  <a:schemeClr val="tx1"/>
                </a:solidFill>
              </a:rPr>
              <a:t>Predicts driving actions and steering corrections.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F56691A-F8CC-531E-8C43-B622D2EB249B}"/>
              </a:ext>
            </a:extLst>
          </p:cNvPr>
          <p:cNvSpPr/>
          <p:nvPr/>
        </p:nvSpPr>
        <p:spPr>
          <a:xfrm>
            <a:off x="-5069711" y="3589746"/>
            <a:ext cx="5069711" cy="952461"/>
          </a:xfrm>
          <a:prstGeom prst="round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</a:rPr>
              <a:t>Pure Pursuit Algorithm</a:t>
            </a:r>
            <a:br>
              <a:rPr lang="en-IN" dirty="0">
                <a:solidFill>
                  <a:schemeClr val="tx1"/>
                </a:solidFill>
              </a:rPr>
            </a:br>
            <a:r>
              <a:rPr lang="en-IN" dirty="0">
                <a:solidFill>
                  <a:schemeClr val="tx1"/>
                </a:solidFill>
              </a:rPr>
              <a:t>Ensures smooth steering and accurate path following.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771F199-BF4C-6B4A-4881-864EF64BA6DB}"/>
              </a:ext>
            </a:extLst>
          </p:cNvPr>
          <p:cNvSpPr/>
          <p:nvPr/>
        </p:nvSpPr>
        <p:spPr>
          <a:xfrm>
            <a:off x="12192000" y="4887157"/>
            <a:ext cx="5069710" cy="952461"/>
          </a:xfrm>
          <a:prstGeom prst="round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</a:rPr>
              <a:t>Reinforcement Learning (Q-Learning)</a:t>
            </a:r>
            <a:br>
              <a:rPr lang="en-IN" dirty="0">
                <a:solidFill>
                  <a:schemeClr val="tx1"/>
                </a:solidFill>
              </a:rPr>
            </a:br>
            <a:r>
              <a:rPr lang="en-IN" dirty="0">
                <a:solidFill>
                  <a:schemeClr val="tx1"/>
                </a:solidFill>
              </a:rPr>
              <a:t>Learns and improves driving decisions over time.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3EDCB14-2382-B109-E714-2BC869B4E189}"/>
              </a:ext>
            </a:extLst>
          </p:cNvPr>
          <p:cNvSpPr/>
          <p:nvPr/>
        </p:nvSpPr>
        <p:spPr>
          <a:xfrm>
            <a:off x="12192000" y="3429000"/>
            <a:ext cx="5069710" cy="952461"/>
          </a:xfrm>
          <a:prstGeom prst="round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</a:rPr>
              <a:t>Telemetry Analysis</a:t>
            </a:r>
            <a:br>
              <a:rPr lang="en-IN" dirty="0">
                <a:solidFill>
                  <a:schemeClr val="tx1"/>
                </a:solidFill>
              </a:rPr>
            </a:br>
            <a:r>
              <a:rPr lang="en-IN" dirty="0">
                <a:solidFill>
                  <a:schemeClr val="tx1"/>
                </a:solidFill>
              </a:rPr>
              <a:t>Monitors speed, steering, braking, and overall vehicle performance. </a:t>
            </a:r>
          </a:p>
        </p:txBody>
      </p:sp>
    </p:spTree>
    <p:extLst>
      <p:ext uri="{BB962C8B-B14F-4D97-AF65-F5344CB8AC3E}">
        <p14:creationId xmlns:p14="http://schemas.microsoft.com/office/powerpoint/2010/main" val="35117195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DABEA5B-E4A4-A154-031D-8080578D0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IN" sz="6000" b="1" dirty="0">
                <a:latin typeface="Bodoni MT Black" panose="02070A03080606020203" pitchFamily="18" charset="0"/>
              </a:rPr>
              <a:t>Algorithm &amp; AI Techniques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2D91CE8-52A4-B1B8-81C9-9688DA83AF14}"/>
              </a:ext>
            </a:extLst>
          </p:cNvPr>
          <p:cNvSpPr/>
          <p:nvPr/>
        </p:nvSpPr>
        <p:spPr>
          <a:xfrm>
            <a:off x="729204" y="2071868"/>
            <a:ext cx="5069711" cy="952461"/>
          </a:xfrm>
          <a:prstGeom prst="round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(A-Star) Algorithm*</a:t>
            </a:r>
            <a:b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Calculates the shortest and most efficient route.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3A7BA19-7183-490C-6ACF-EAADBA647DAB}"/>
              </a:ext>
            </a:extLst>
          </p:cNvPr>
          <p:cNvSpPr/>
          <p:nvPr/>
        </p:nvSpPr>
        <p:spPr>
          <a:xfrm>
            <a:off x="6636153" y="2098353"/>
            <a:ext cx="5069710" cy="952461"/>
          </a:xfrm>
          <a:prstGeom prst="round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LiDAR (Ray Casting)</a:t>
            </a:r>
            <a:b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Detects obstacles, pedestrians, and nearby vehicles.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0C6EC2D-7E4F-934E-8D1D-9394B5ACDA18}"/>
              </a:ext>
            </a:extLst>
          </p:cNvPr>
          <p:cNvSpPr/>
          <p:nvPr/>
        </p:nvSpPr>
        <p:spPr>
          <a:xfrm>
            <a:off x="729202" y="5279825"/>
            <a:ext cx="5069711" cy="952461"/>
          </a:xfrm>
          <a:prstGeom prst="round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</a:t>
            </a:r>
            <a:b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Predicts driving actions and steering corrections.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388CC73-EE0E-0B65-1FDE-E8FE199EAF31}"/>
              </a:ext>
            </a:extLst>
          </p:cNvPr>
          <p:cNvSpPr/>
          <p:nvPr/>
        </p:nvSpPr>
        <p:spPr>
          <a:xfrm>
            <a:off x="729202" y="3685753"/>
            <a:ext cx="5069711" cy="952461"/>
          </a:xfrm>
          <a:prstGeom prst="round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Pure Pursuit Algorithm</a:t>
            </a:r>
            <a:b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Ensures smooth steering and accurate path following.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EA44F5B-1A6B-108F-5B34-149C1E4D08F4}"/>
              </a:ext>
            </a:extLst>
          </p:cNvPr>
          <p:cNvSpPr/>
          <p:nvPr/>
        </p:nvSpPr>
        <p:spPr>
          <a:xfrm>
            <a:off x="6636153" y="5289832"/>
            <a:ext cx="5069710" cy="952461"/>
          </a:xfrm>
          <a:prstGeom prst="round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Reinforcement Learning (Q-Learning)</a:t>
            </a:r>
            <a:b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Learns and improves driving decisions over time.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706B876-F23A-C002-FF1D-285BF1E69986}"/>
              </a:ext>
            </a:extLst>
          </p:cNvPr>
          <p:cNvSpPr/>
          <p:nvPr/>
        </p:nvSpPr>
        <p:spPr>
          <a:xfrm>
            <a:off x="6636153" y="3685752"/>
            <a:ext cx="5069710" cy="952461"/>
          </a:xfrm>
          <a:prstGeom prst="round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Telemetry Analysis</a:t>
            </a:r>
            <a:b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Monitors speed, steering, braking, and overall vehicle performance.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44936A-F159-DFD8-8D44-F31F55BDB154}"/>
              </a:ext>
            </a:extLst>
          </p:cNvPr>
          <p:cNvSpPr txBox="1"/>
          <p:nvPr/>
        </p:nvSpPr>
        <p:spPr>
          <a:xfrm>
            <a:off x="310585" y="2006807"/>
            <a:ext cx="4186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2F2CB2-C01E-C7C2-6C71-365A389715AA}"/>
              </a:ext>
            </a:extLst>
          </p:cNvPr>
          <p:cNvSpPr txBox="1"/>
          <p:nvPr/>
        </p:nvSpPr>
        <p:spPr>
          <a:xfrm>
            <a:off x="6288911" y="5279825"/>
            <a:ext cx="4186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7B91DA4-D10B-BEBE-1912-A152A55E7551}"/>
              </a:ext>
            </a:extLst>
          </p:cNvPr>
          <p:cNvSpPr txBox="1"/>
          <p:nvPr/>
        </p:nvSpPr>
        <p:spPr>
          <a:xfrm>
            <a:off x="312516" y="5279825"/>
            <a:ext cx="412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A440293-7C11-04F1-56A7-66CCB2090EAE}"/>
              </a:ext>
            </a:extLst>
          </p:cNvPr>
          <p:cNvSpPr txBox="1"/>
          <p:nvPr/>
        </p:nvSpPr>
        <p:spPr>
          <a:xfrm>
            <a:off x="6288912" y="3696645"/>
            <a:ext cx="5170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965EEFB-410F-C468-DE9C-FB2EC5F9427F}"/>
              </a:ext>
            </a:extLst>
          </p:cNvPr>
          <p:cNvSpPr txBox="1"/>
          <p:nvPr/>
        </p:nvSpPr>
        <p:spPr>
          <a:xfrm>
            <a:off x="306719" y="3643315"/>
            <a:ext cx="4186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3CE44D8-7FBB-64AA-57EE-87D64786629C}"/>
              </a:ext>
            </a:extLst>
          </p:cNvPr>
          <p:cNvSpPr txBox="1"/>
          <p:nvPr/>
        </p:nvSpPr>
        <p:spPr>
          <a:xfrm>
            <a:off x="6288912" y="2006807"/>
            <a:ext cx="4186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B0C34C-9099-A332-0725-9C8A6BFD117A}"/>
              </a:ext>
            </a:extLst>
          </p:cNvPr>
          <p:cNvSpPr txBox="1"/>
          <p:nvPr/>
        </p:nvSpPr>
        <p:spPr>
          <a:xfrm>
            <a:off x="7839919" y="1952565"/>
            <a:ext cx="4213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0515C2CF-7745-A0F5-B6CA-2200BBFE28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6177" y="-2280888"/>
            <a:ext cx="3900668" cy="2194126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F842DFD2-D224-B1E3-7587-7243F3CCDE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6177" y="7075569"/>
            <a:ext cx="3900670" cy="2194127"/>
          </a:xfrm>
          <a:prstGeom prst="rect">
            <a:avLst/>
          </a:prstGeom>
        </p:spPr>
      </p:pic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0454BCCB-E133-ECA4-4B56-705CB514EDD9}"/>
              </a:ext>
            </a:extLst>
          </p:cNvPr>
          <p:cNvSpPr/>
          <p:nvPr/>
        </p:nvSpPr>
        <p:spPr>
          <a:xfrm rot="5400000">
            <a:off x="-24580" y="872644"/>
            <a:ext cx="452284" cy="403123"/>
          </a:xfrm>
          <a:prstGeom prst="triangle">
            <a:avLst/>
          </a:prstGeom>
          <a:solidFill>
            <a:schemeClr val="bg2">
              <a:lumMod val="60000"/>
              <a:lumOff val="40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394267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57B8E3-D804-5EAA-936A-EB14FBFD2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7355"/>
            <a:ext cx="10515600" cy="1325563"/>
          </a:xfrm>
        </p:spPr>
        <p:txBody>
          <a:bodyPr>
            <a:normAutofit/>
          </a:bodyPr>
          <a:lstStyle/>
          <a:p>
            <a:r>
              <a:rPr lang="en-IN" sz="6000" b="1" dirty="0">
                <a:latin typeface="Arial Rounded MT Bold" panose="020F0704030504030204" pitchFamily="34" charset="0"/>
              </a:rPr>
              <a:t>Results &amp; Performance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3F5C05-7F09-D504-F7D1-1F2CADAE5E0D}"/>
              </a:ext>
            </a:extLst>
          </p:cNvPr>
          <p:cNvSpPr txBox="1"/>
          <p:nvPr/>
        </p:nvSpPr>
        <p:spPr>
          <a:xfrm>
            <a:off x="838200" y="1690688"/>
            <a:ext cx="7125182" cy="41971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100% Route Completion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📍 Successfully reached the destination in all test scenarios.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Accurate Obstacle Detection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📡 LiDAR reliably detected vehicles, pedestrians, and obstacles.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Safe Autonomous Navigation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🚗 Followed the planned route while complying with traffic rules.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Efficient Route Planning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🗺️ A* algorithm generated the shortest navigation path.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Telemetry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📊 Recorded speed, steering angle, braking, and vehicle performance.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497121-863B-859F-24D0-B16CFD76F0BD}"/>
              </a:ext>
            </a:extLst>
          </p:cNvPr>
          <p:cNvSpPr txBox="1"/>
          <p:nvPr/>
        </p:nvSpPr>
        <p:spPr>
          <a:xfrm>
            <a:off x="7812911" y="2268638"/>
            <a:ext cx="4213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24446E8-333D-62EC-868B-F4420CBE16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2911" y="1595149"/>
            <a:ext cx="3900668" cy="219412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4AED433-09E5-7DEF-475A-A82D8D1AE0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2909" y="4165787"/>
            <a:ext cx="3900670" cy="2194127"/>
          </a:xfrm>
          <a:prstGeom prst="rect">
            <a:avLst/>
          </a:prstGeom>
        </p:spPr>
      </p:pic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0E5A6693-0E06-C6A9-F094-6FB82AF7F978}"/>
              </a:ext>
            </a:extLst>
          </p:cNvPr>
          <p:cNvSpPr/>
          <p:nvPr/>
        </p:nvSpPr>
        <p:spPr>
          <a:xfrm rot="5400000">
            <a:off x="-24581" y="768574"/>
            <a:ext cx="452284" cy="403123"/>
          </a:xfrm>
          <a:prstGeom prst="triangle">
            <a:avLst/>
          </a:prstGeom>
          <a:solidFill>
            <a:schemeClr val="bg2">
              <a:lumMod val="60000"/>
              <a:lumOff val="40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C2A89F4-0453-6CBA-0F44-FBD03C087BBF}"/>
              </a:ext>
            </a:extLst>
          </p:cNvPr>
          <p:cNvSpPr/>
          <p:nvPr/>
        </p:nvSpPr>
        <p:spPr>
          <a:xfrm>
            <a:off x="7963382" y="11545748"/>
            <a:ext cx="4146149" cy="6858001"/>
          </a:xfrm>
          <a:prstGeom prst="roundRect">
            <a:avLst>
              <a:gd name="adj" fmla="val 0"/>
            </a:avLst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endParaRPr lang="en-IN" dirty="0">
              <a:solidFill>
                <a:schemeClr val="tx1"/>
              </a:solidFill>
            </a:endParaRP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endParaRPr lang="en-IN" dirty="0">
              <a:solidFill>
                <a:schemeClr val="tx1"/>
              </a:solidFill>
            </a:endParaRPr>
          </a:p>
          <a:p>
            <a:pPr algn="ctr">
              <a:spcAft>
                <a:spcPts val="600"/>
              </a:spcAft>
            </a:pPr>
            <a:r>
              <a:rPr lang="en-IN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🚀</a:t>
            </a:r>
            <a:r>
              <a:rPr lang="en-IN" sz="20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Future Scope</a:t>
            </a: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endParaRPr lang="en-IN" dirty="0">
              <a:solidFill>
                <a:schemeClr val="tx1"/>
              </a:solidFill>
            </a:endParaRP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IN" dirty="0">
                <a:solidFill>
                  <a:schemeClr val="tx1"/>
                </a:solidFill>
              </a:rPr>
              <a:t>Integrate </a:t>
            </a:r>
            <a:r>
              <a:rPr lang="en-IN" b="1" dirty="0">
                <a:solidFill>
                  <a:schemeClr val="tx1"/>
                </a:solidFill>
              </a:rPr>
              <a:t>Computer Vision</a:t>
            </a:r>
            <a:r>
              <a:rPr lang="en-IN" dirty="0">
                <a:solidFill>
                  <a:schemeClr val="tx1"/>
                </a:solidFill>
              </a:rPr>
              <a:t> for lane and object detection. </a:t>
            </a: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IN" dirty="0">
                <a:solidFill>
                  <a:schemeClr val="tx1"/>
                </a:solidFill>
              </a:rPr>
              <a:t> Apply </a:t>
            </a:r>
            <a:r>
              <a:rPr lang="en-IN" b="1" dirty="0">
                <a:solidFill>
                  <a:schemeClr val="tx1"/>
                </a:solidFill>
              </a:rPr>
              <a:t>Deep Learning</a:t>
            </a:r>
            <a:r>
              <a:rPr lang="en-IN" dirty="0">
                <a:solidFill>
                  <a:schemeClr val="tx1"/>
                </a:solidFill>
              </a:rPr>
              <a:t> for more intelligent decision-making. </a:t>
            </a: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IN" dirty="0">
                <a:solidFill>
                  <a:schemeClr val="tx1"/>
                </a:solidFill>
              </a:rPr>
              <a:t> Add </a:t>
            </a:r>
            <a:r>
              <a:rPr lang="en-IN" b="1" dirty="0">
                <a:solidFill>
                  <a:schemeClr val="tx1"/>
                </a:solidFill>
              </a:rPr>
              <a:t>Vehicle-to-Everything (V2X)</a:t>
            </a:r>
            <a:r>
              <a:rPr lang="en-IN" dirty="0">
                <a:solidFill>
                  <a:schemeClr val="tx1"/>
                </a:solidFill>
              </a:rPr>
              <a:t> communication. </a:t>
            </a: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IN" dirty="0">
                <a:solidFill>
                  <a:schemeClr val="tx1"/>
                </a:solidFill>
              </a:rPr>
              <a:t> Support realistic weather conditions and cloud-based analytics</a:t>
            </a:r>
            <a:r>
              <a:rPr lang="en-IN" dirty="0"/>
              <a:t>. </a:t>
            </a:r>
            <a:r>
              <a:rPr lang="en-IN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A82C67C-2308-680F-4808-15EE21AC3902}"/>
              </a:ext>
            </a:extLst>
          </p:cNvPr>
          <p:cNvSpPr/>
          <p:nvPr/>
        </p:nvSpPr>
        <p:spPr>
          <a:xfrm>
            <a:off x="4236333" y="9352780"/>
            <a:ext cx="3727049" cy="6858001"/>
          </a:xfrm>
          <a:prstGeom prst="roundRect">
            <a:avLst>
              <a:gd name="adj" fmla="val 0"/>
            </a:avLst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endParaRPr lang="en-IN" dirty="0">
              <a:solidFill>
                <a:schemeClr val="tx1"/>
              </a:solidFill>
            </a:endParaRPr>
          </a:p>
          <a:p>
            <a:pPr algn="ctr">
              <a:spcAft>
                <a:spcPts val="600"/>
              </a:spcAft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⚠️</a:t>
            </a:r>
            <a:r>
              <a:rPr lang="en-IN" sz="20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Limitation</a:t>
            </a: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endParaRPr lang="en-IN" dirty="0">
              <a:solidFill>
                <a:schemeClr val="tx1"/>
              </a:solidFill>
            </a:endParaRPr>
          </a:p>
          <a:p>
            <a:pPr marL="285750" indent="-285750" algn="just"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IN" dirty="0">
                <a:solidFill>
                  <a:schemeClr val="tx1"/>
                </a:solidFill>
              </a:rPr>
              <a:t>Operates only in a simulated environment. </a:t>
            </a:r>
          </a:p>
          <a:p>
            <a:pPr marL="285750" indent="-285750" algn="just"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IN" dirty="0">
                <a:solidFill>
                  <a:schemeClr val="tx1"/>
                </a:solidFill>
              </a:rPr>
              <a:t>Limited real-world sensor accuracy and weather simulation. </a:t>
            </a: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IN" dirty="0">
                <a:solidFill>
                  <a:schemeClr val="tx1"/>
                </a:solidFill>
              </a:rPr>
              <a:t> AI models require further training for complex traffic scenarios</a:t>
            </a:r>
            <a:r>
              <a:rPr lang="en-IN" dirty="0"/>
              <a:t>.</a:t>
            </a:r>
            <a:r>
              <a:rPr lang="en-IN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14BAEEBC-AB0B-7D87-18D9-2085ED9336EE}"/>
              </a:ext>
            </a:extLst>
          </p:cNvPr>
          <p:cNvSpPr/>
          <p:nvPr/>
        </p:nvSpPr>
        <p:spPr>
          <a:xfrm>
            <a:off x="-1" y="6879492"/>
            <a:ext cx="4318800" cy="6858001"/>
          </a:xfrm>
          <a:prstGeom prst="roundRect">
            <a:avLst>
              <a:gd name="adj" fmla="val 229"/>
            </a:avLst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endParaRPr lang="en-IN" dirty="0">
              <a:solidFill>
                <a:schemeClr val="tx1"/>
              </a:solidFill>
            </a:endParaRPr>
          </a:p>
          <a:p>
            <a:pPr algn="just">
              <a:spcAft>
                <a:spcPts val="600"/>
              </a:spcAft>
            </a:pPr>
            <a:endParaRPr lang="en-IN" dirty="0">
              <a:solidFill>
                <a:schemeClr val="tx1"/>
              </a:solidFill>
            </a:endParaRPr>
          </a:p>
          <a:p>
            <a:pPr algn="ctr">
              <a:lnSpc>
                <a:spcPct val="300000"/>
              </a:lnSpc>
              <a:spcAft>
                <a:spcPts val="1200"/>
              </a:spcAft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IN" sz="20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IN" dirty="0">
                <a:solidFill>
                  <a:schemeClr val="tx1"/>
                </a:solidFill>
              </a:rPr>
              <a:t>Lightweight and web-based simulator.  </a:t>
            </a: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IN" dirty="0">
                <a:solidFill>
                  <a:schemeClr val="tx1"/>
                </a:solidFill>
              </a:rPr>
              <a:t>Efficient </a:t>
            </a:r>
            <a:r>
              <a:rPr lang="en-IN" b="1" dirty="0">
                <a:solidFill>
                  <a:schemeClr val="tx1"/>
                </a:solidFill>
              </a:rPr>
              <a:t>A</a:t>
            </a:r>
            <a:r>
              <a:rPr lang="en-IN" dirty="0">
                <a:solidFill>
                  <a:schemeClr val="tx1"/>
                </a:solidFill>
              </a:rPr>
              <a:t>* path planning for optimal navigation.</a:t>
            </a: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IN" dirty="0">
                <a:solidFill>
                  <a:schemeClr val="tx1"/>
                </a:solidFill>
              </a:rPr>
              <a:t>Real-time </a:t>
            </a:r>
            <a:r>
              <a:rPr lang="en-IN" b="1" dirty="0">
                <a:solidFill>
                  <a:schemeClr val="tx1"/>
                </a:solidFill>
              </a:rPr>
              <a:t>LiDAR-based obstacle detection</a:t>
            </a:r>
            <a:r>
              <a:rPr lang="en-IN" dirty="0">
                <a:solidFill>
                  <a:schemeClr val="tx1"/>
                </a:solidFill>
              </a:rPr>
              <a:t>.</a:t>
            </a:r>
          </a:p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en-IN" dirty="0">
                <a:solidFill>
                  <a:schemeClr val="tx1"/>
                </a:solidFill>
              </a:rPr>
              <a:t>Modular client-server architecture for easy maintenance.  </a:t>
            </a:r>
          </a:p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en-IN" dirty="0">
                <a:solidFill>
                  <a:schemeClr val="tx1"/>
                </a:solidFill>
              </a:rPr>
              <a:t>Telemetry analysis for performance evaluation.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2023B0E9-C41D-DB14-0ECD-74BF7C49F4E8}"/>
              </a:ext>
            </a:extLst>
          </p:cNvPr>
          <p:cNvSpPr txBox="1">
            <a:spLocks/>
          </p:cNvSpPr>
          <p:nvPr/>
        </p:nvSpPr>
        <p:spPr>
          <a:xfrm>
            <a:off x="838198" y="734879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5400" b="1">
                <a:latin typeface="Times New Roman" panose="02020603050405020304" pitchFamily="18" charset="0"/>
                <a:cs typeface="Times New Roman" panose="02020603050405020304" pitchFamily="18" charset="0"/>
              </a:rPr>
              <a:t>Advantages, Limitations &amp; Future Scope</a:t>
            </a:r>
            <a:endParaRPr lang="en-IN" sz="5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D2F3AB9B-B894-FB4D-385B-CA39C0B1C6B4}"/>
              </a:ext>
            </a:extLst>
          </p:cNvPr>
          <p:cNvSpPr/>
          <p:nvPr/>
        </p:nvSpPr>
        <p:spPr>
          <a:xfrm rot="5400000">
            <a:off x="-24583" y="9151219"/>
            <a:ext cx="452284" cy="403123"/>
          </a:xfrm>
          <a:prstGeom prst="triangle">
            <a:avLst/>
          </a:prstGeom>
          <a:solidFill>
            <a:schemeClr val="bg2">
              <a:lumMod val="60000"/>
              <a:lumOff val="40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0BB5EE8F-6E2F-D75A-D041-EE276ECAC7DD}"/>
              </a:ext>
            </a:extLst>
          </p:cNvPr>
          <p:cNvSpPr/>
          <p:nvPr/>
        </p:nvSpPr>
        <p:spPr>
          <a:xfrm rot="5400000">
            <a:off x="4294218" y="11570329"/>
            <a:ext cx="452284" cy="403123"/>
          </a:xfrm>
          <a:prstGeom prst="triangle">
            <a:avLst/>
          </a:prstGeom>
          <a:solidFill>
            <a:schemeClr val="bg2">
              <a:lumMod val="60000"/>
              <a:lumOff val="40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0C110B55-A48D-0053-454F-5A356AAEE472}"/>
              </a:ext>
            </a:extLst>
          </p:cNvPr>
          <p:cNvSpPr/>
          <p:nvPr/>
        </p:nvSpPr>
        <p:spPr>
          <a:xfrm rot="5400000">
            <a:off x="7924304" y="13658626"/>
            <a:ext cx="452284" cy="403123"/>
          </a:xfrm>
          <a:prstGeom prst="triangle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8631897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F38830D-4252-B29F-80FD-279119774AE1}"/>
              </a:ext>
            </a:extLst>
          </p:cNvPr>
          <p:cNvSpPr/>
          <p:nvPr/>
        </p:nvSpPr>
        <p:spPr>
          <a:xfrm>
            <a:off x="8045851" y="1"/>
            <a:ext cx="4146149" cy="6858001"/>
          </a:xfrm>
          <a:prstGeom prst="roundRect">
            <a:avLst>
              <a:gd name="adj" fmla="val 0"/>
            </a:avLst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endParaRPr lang="en-IN" dirty="0">
              <a:solidFill>
                <a:schemeClr val="tx1"/>
              </a:solidFill>
            </a:endParaRP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endParaRPr lang="en-IN" dirty="0">
              <a:solidFill>
                <a:schemeClr val="tx1"/>
              </a:solidFill>
            </a:endParaRPr>
          </a:p>
          <a:p>
            <a:pPr algn="ctr">
              <a:spcAft>
                <a:spcPts val="600"/>
              </a:spcAft>
            </a:pPr>
            <a:r>
              <a:rPr lang="en-IN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🚀</a:t>
            </a:r>
            <a:r>
              <a:rPr lang="en-IN" sz="20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Future Scope</a:t>
            </a: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Integrate </a:t>
            </a:r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Computer Vision</a:t>
            </a: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for lane and object detection. </a:t>
            </a: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Apply </a:t>
            </a:r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Deep Learning</a:t>
            </a: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for more intelligent decision-making. </a:t>
            </a: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Add </a:t>
            </a:r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Vehicle-to-Everything (V2X)</a:t>
            </a: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communication. </a:t>
            </a: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Support realistic weather conditions and cloud-based analytics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BED375F-2265-F5AC-37CE-AE2416837341}"/>
              </a:ext>
            </a:extLst>
          </p:cNvPr>
          <p:cNvSpPr/>
          <p:nvPr/>
        </p:nvSpPr>
        <p:spPr>
          <a:xfrm>
            <a:off x="4326790" y="-1"/>
            <a:ext cx="3727049" cy="6858001"/>
          </a:xfrm>
          <a:prstGeom prst="roundRect">
            <a:avLst>
              <a:gd name="adj" fmla="val 0"/>
            </a:avLst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endParaRPr lang="en-IN" dirty="0">
              <a:solidFill>
                <a:schemeClr val="tx1"/>
              </a:solidFill>
            </a:endParaRPr>
          </a:p>
          <a:p>
            <a:pPr algn="ctr">
              <a:spcAft>
                <a:spcPts val="600"/>
              </a:spcAft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⚠️</a:t>
            </a:r>
            <a:r>
              <a:rPr lang="en-IN" sz="20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Limitation</a:t>
            </a: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Operates only in a simulated environment. </a:t>
            </a:r>
          </a:p>
          <a:p>
            <a:pPr marL="285750" indent="-285750" algn="just"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Limited real-world sensor accuracy and weather simulation. </a:t>
            </a: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AI models require further training for complex traffic scenarios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7274413-F88F-F7E8-93AD-F14BAE205B3A}"/>
              </a:ext>
            </a:extLst>
          </p:cNvPr>
          <p:cNvSpPr/>
          <p:nvPr/>
        </p:nvSpPr>
        <p:spPr>
          <a:xfrm>
            <a:off x="2" y="0"/>
            <a:ext cx="4318800" cy="6858001"/>
          </a:xfrm>
          <a:prstGeom prst="roundRect">
            <a:avLst>
              <a:gd name="adj" fmla="val 229"/>
            </a:avLst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endParaRPr lang="en-IN" dirty="0">
              <a:solidFill>
                <a:schemeClr val="tx1"/>
              </a:solidFill>
            </a:endParaRPr>
          </a:p>
          <a:p>
            <a:pPr algn="just">
              <a:spcAft>
                <a:spcPts val="600"/>
              </a:spcAft>
            </a:pPr>
            <a:endParaRPr lang="en-IN" dirty="0">
              <a:solidFill>
                <a:schemeClr val="tx1"/>
              </a:solidFill>
            </a:endParaRPr>
          </a:p>
          <a:p>
            <a:pPr algn="ctr">
              <a:lnSpc>
                <a:spcPct val="300000"/>
              </a:lnSpc>
              <a:spcAft>
                <a:spcPts val="1200"/>
              </a:spcAft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IN" sz="20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Lightweight and web-based simulator.  </a:t>
            </a: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Efficient </a:t>
            </a:r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* path planning for optimal navigation.</a:t>
            </a: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Real-time </a:t>
            </a:r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LiDAR-based obstacle detection</a:t>
            </a: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Modular client-server architecture for easy maintenance.  </a:t>
            </a:r>
          </a:p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Telemetry analysis for performance evaluation.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072A0D-7426-5FA0-EC79-9205054FC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469298"/>
            <a:ext cx="10515600" cy="1325563"/>
          </a:xfrm>
        </p:spPr>
        <p:txBody>
          <a:bodyPr>
            <a:noAutofit/>
          </a:bodyPr>
          <a:lstStyle/>
          <a:p>
            <a:r>
              <a:rPr lang="en-IN" sz="5400" b="1" dirty="0">
                <a:latin typeface="Arial Rounded MT Bold" panose="020F0704030504030204" pitchFamily="34" charset="0"/>
              </a:rPr>
              <a:t>Advantages, Limitations &amp; Future Scope</a:t>
            </a:r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C0ACAAC5-6FE4-7FC3-7E3A-0943A7698338}"/>
              </a:ext>
            </a:extLst>
          </p:cNvPr>
          <p:cNvSpPr/>
          <p:nvPr/>
        </p:nvSpPr>
        <p:spPr>
          <a:xfrm rot="5400000">
            <a:off x="-24580" y="2271727"/>
            <a:ext cx="452284" cy="403123"/>
          </a:xfrm>
          <a:prstGeom prst="triangle">
            <a:avLst/>
          </a:prstGeom>
          <a:solidFill>
            <a:schemeClr val="bg2">
              <a:lumMod val="60000"/>
              <a:lumOff val="40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4EA442F1-921D-B31B-75EA-06AA6A28DD9F}"/>
              </a:ext>
            </a:extLst>
          </p:cNvPr>
          <p:cNvSpPr/>
          <p:nvPr/>
        </p:nvSpPr>
        <p:spPr>
          <a:xfrm rot="5400000">
            <a:off x="4294221" y="2271727"/>
            <a:ext cx="452284" cy="403123"/>
          </a:xfrm>
          <a:prstGeom prst="triangle">
            <a:avLst/>
          </a:prstGeom>
          <a:solidFill>
            <a:schemeClr val="bg2">
              <a:lumMod val="60000"/>
              <a:lumOff val="40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C38CD1D8-94BA-F124-EA46-224C86C4DFCC}"/>
              </a:ext>
            </a:extLst>
          </p:cNvPr>
          <p:cNvSpPr/>
          <p:nvPr/>
        </p:nvSpPr>
        <p:spPr>
          <a:xfrm rot="5400000">
            <a:off x="8021270" y="2271727"/>
            <a:ext cx="452284" cy="403123"/>
          </a:xfrm>
          <a:prstGeom prst="triangle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43EC0DA5-77DB-895D-4220-CD8890C40E6A}"/>
              </a:ext>
            </a:extLst>
          </p:cNvPr>
          <p:cNvSpPr/>
          <p:nvPr/>
        </p:nvSpPr>
        <p:spPr>
          <a:xfrm rot="5400000">
            <a:off x="-8603" y="493878"/>
            <a:ext cx="452284" cy="403123"/>
          </a:xfrm>
          <a:prstGeom prst="triangle">
            <a:avLst/>
          </a:prstGeom>
          <a:solidFill>
            <a:schemeClr val="bg2">
              <a:lumMod val="60000"/>
              <a:lumOff val="40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1608333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92F6E9-98D3-D133-BD7A-02B04502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72866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8800" b="1" dirty="0">
                <a:latin typeface="Arial Rounded MT Bold" panose="020F0704030504030204" pitchFamily="34" charset="0"/>
              </a:rPr>
              <a:t>THANK YOU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B815432-FF8E-BD3B-D70C-F8960B20CBEF}"/>
              </a:ext>
            </a:extLst>
          </p:cNvPr>
          <p:cNvSpPr/>
          <p:nvPr/>
        </p:nvSpPr>
        <p:spPr>
          <a:xfrm>
            <a:off x="10063223" y="-335666"/>
            <a:ext cx="2581154" cy="2685327"/>
          </a:xfrm>
          <a:prstGeom prst="ellipse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68C1824-55D2-50D8-5B31-F039C88C2E69}"/>
              </a:ext>
            </a:extLst>
          </p:cNvPr>
          <p:cNvSpPr/>
          <p:nvPr/>
        </p:nvSpPr>
        <p:spPr>
          <a:xfrm>
            <a:off x="7743464" y="1291371"/>
            <a:ext cx="5926237" cy="6114327"/>
          </a:xfrm>
          <a:prstGeom prst="ellipse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3CC8032-F91F-2A0B-5931-F49C8D6D7D6B}"/>
              </a:ext>
            </a:extLst>
          </p:cNvPr>
          <p:cNvSpPr/>
          <p:nvPr/>
        </p:nvSpPr>
        <p:spPr>
          <a:xfrm>
            <a:off x="6824241" y="4631803"/>
            <a:ext cx="2581154" cy="2685327"/>
          </a:xfrm>
          <a:prstGeom prst="ellipse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97020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Red">
      <a:dk1>
        <a:sysClr val="windowText" lastClr="000000"/>
      </a:dk1>
      <a:lt1>
        <a:sysClr val="window" lastClr="FFFFFF"/>
      </a:lt1>
      <a:dk2>
        <a:srgbClr val="323232"/>
      </a:dk2>
      <a:lt2>
        <a:srgbClr val="E5C243"/>
      </a:lt2>
      <a:accent1>
        <a:srgbClr val="A5300F"/>
      </a:accent1>
      <a:accent2>
        <a:srgbClr val="D55816"/>
      </a:accent2>
      <a:accent3>
        <a:srgbClr val="E19825"/>
      </a:accent3>
      <a:accent4>
        <a:srgbClr val="B19C7D"/>
      </a:accent4>
      <a:accent5>
        <a:srgbClr val="7F5F52"/>
      </a:accent5>
      <a:accent6>
        <a:srgbClr val="B27D49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4130</TotalTime>
  <Words>1633</Words>
  <Application>Microsoft Office PowerPoint</Application>
  <PresentationFormat>Widescreen</PresentationFormat>
  <Paragraphs>239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Arial</vt:lpstr>
      <vt:lpstr>Arial Rounded MT Bold</vt:lpstr>
      <vt:lpstr>Bodoni MT Black</vt:lpstr>
      <vt:lpstr>Calibri</vt:lpstr>
      <vt:lpstr>Calibri Light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Flow of Work </vt:lpstr>
      <vt:lpstr>Key Features</vt:lpstr>
      <vt:lpstr>Algorithm &amp; AI Techniques</vt:lpstr>
      <vt:lpstr>Results &amp; Performance</vt:lpstr>
      <vt:lpstr>Advantages, Limitations &amp; Future Scope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Moupiya Das</dc:creator>
  <cp:lastModifiedBy>Moupiya Das</cp:lastModifiedBy>
  <cp:revision>5</cp:revision>
  <dcterms:created xsi:type="dcterms:W3CDTF">2026-07-11T19:19:53Z</dcterms:created>
  <dcterms:modified xsi:type="dcterms:W3CDTF">2026-07-14T16:09:55Z</dcterms:modified>
</cp:coreProperties>
</file>