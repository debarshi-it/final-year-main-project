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5" r:id="rId8"/>
    <p:sldId id="266" r:id="rId9"/>
    <p:sldId id="268" r:id="rId10"/>
    <p:sldId id="269" r:id="rId11"/>
    <p:sldId id="270" r:id="rId12"/>
    <p:sldId id="27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3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37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749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8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693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78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56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62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48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30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68894-10B7-48B5-907B-DCA4F025ECC1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10ED1-FEEE-48E4-B03B-4EEA4275D9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7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6325DDD4-933C-61E2-9EDD-F25E8AB5647E}"/>
              </a:ext>
            </a:extLst>
          </p:cNvPr>
          <p:cNvSpPr/>
          <p:nvPr/>
        </p:nvSpPr>
        <p:spPr>
          <a:xfrm>
            <a:off x="-1863524" y="-1880886"/>
            <a:ext cx="12147631" cy="1208975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1A3829-13F9-8596-4ABF-5FB6DF415507}"/>
              </a:ext>
            </a:extLst>
          </p:cNvPr>
          <p:cNvSpPr txBox="1"/>
          <p:nvPr/>
        </p:nvSpPr>
        <p:spPr>
          <a:xfrm>
            <a:off x="486137" y="590309"/>
            <a:ext cx="78592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SmartDrive – 3D Self-Driving Car Simulator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C3C39-7755-9511-4C6E-C36B2B578AE8}"/>
              </a:ext>
            </a:extLst>
          </p:cNvPr>
          <p:cNvSpPr txBox="1"/>
          <p:nvPr/>
        </p:nvSpPr>
        <p:spPr>
          <a:xfrm>
            <a:off x="486137" y="2736502"/>
            <a:ext cx="85652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Autonomous Driving Simulation Platform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7A8A0E-9C52-413C-50C1-B5927AEB958E}"/>
              </a:ext>
            </a:extLst>
          </p:cNvPr>
          <p:cNvSpPr txBox="1"/>
          <p:nvPr/>
        </p:nvSpPr>
        <p:spPr>
          <a:xfrm rot="10800000" flipH="1" flipV="1">
            <a:off x="694482" y="3774700"/>
            <a:ext cx="5401518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IN" sz="2400" b="1" dirty="0"/>
              <a:t>Under the Guidance of</a:t>
            </a:r>
          </a:p>
          <a:p>
            <a:r>
              <a:rPr lang="en-IN" sz="2400" b="1" dirty="0"/>
              <a:t>Mr. Biplab Kumar Mondal</a:t>
            </a:r>
            <a:br>
              <a:rPr lang="en-IN" sz="2400" dirty="0"/>
            </a:br>
            <a:r>
              <a:rPr lang="en-IN" sz="2400" dirty="0"/>
              <a:t>Assistant Professor</a:t>
            </a:r>
            <a:br>
              <a:rPr lang="en-IN" sz="2400" dirty="0"/>
            </a:br>
            <a:r>
              <a:rPr lang="en-IN" sz="2400" dirty="0"/>
              <a:t>Department of Information Technology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2314237-4D66-952F-5999-5C404740D9B9}"/>
              </a:ext>
            </a:extLst>
          </p:cNvPr>
          <p:cNvSpPr/>
          <p:nvPr/>
        </p:nvSpPr>
        <p:spPr>
          <a:xfrm>
            <a:off x="8173656" y="3897810"/>
            <a:ext cx="2926466" cy="265346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Presented By:</a:t>
            </a:r>
          </a:p>
          <a:p>
            <a:r>
              <a:rPr lang="en-IN" dirty="0">
                <a:solidFill>
                  <a:schemeClr val="tx1"/>
                </a:solidFill>
              </a:rPr>
              <a:t>Ayan Kundu</a:t>
            </a:r>
          </a:p>
          <a:p>
            <a:r>
              <a:rPr lang="en-IN" dirty="0" err="1">
                <a:solidFill>
                  <a:schemeClr val="tx1"/>
                </a:solidFill>
              </a:rPr>
              <a:t>Debarshi</a:t>
            </a:r>
            <a:r>
              <a:rPr lang="en-IN" dirty="0">
                <a:solidFill>
                  <a:schemeClr val="tx1"/>
                </a:solidFill>
              </a:rPr>
              <a:t> Chatterjee</a:t>
            </a:r>
          </a:p>
          <a:p>
            <a:r>
              <a:rPr lang="en-IN" dirty="0">
                <a:solidFill>
                  <a:schemeClr val="tx1"/>
                </a:solidFill>
              </a:rPr>
              <a:t>Moupiya Das</a:t>
            </a:r>
          </a:p>
          <a:p>
            <a:r>
              <a:rPr lang="en-IN" dirty="0">
                <a:solidFill>
                  <a:schemeClr val="tx1"/>
                </a:solidFill>
              </a:rPr>
              <a:t>Rohit Saha</a:t>
            </a:r>
          </a:p>
        </p:txBody>
      </p:sp>
    </p:spTree>
    <p:extLst>
      <p:ext uri="{BB962C8B-B14F-4D97-AF65-F5344CB8AC3E}">
        <p14:creationId xmlns:p14="http://schemas.microsoft.com/office/powerpoint/2010/main" val="26129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7752F68-61D7-A74D-FD9E-F8CEAF4F475B}"/>
              </a:ext>
            </a:extLst>
          </p:cNvPr>
          <p:cNvSpPr/>
          <p:nvPr/>
        </p:nvSpPr>
        <p:spPr>
          <a:xfrm rot="5400000">
            <a:off x="-24581" y="614517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4D483-63CF-39C4-05CE-7978CFB71F0B}"/>
              </a:ext>
            </a:extLst>
          </p:cNvPr>
          <p:cNvSpPr txBox="1"/>
          <p:nvPr/>
        </p:nvSpPr>
        <p:spPr>
          <a:xfrm>
            <a:off x="845574" y="262080"/>
            <a:ext cx="7443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Introduction</a:t>
            </a:r>
            <a:endParaRPr lang="en-IN" sz="6600" b="1" dirty="0">
              <a:latin typeface="Arial Rounded MT Bold" panose="020F07040305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880E2-57EC-A74F-B791-3C1C9103B1C9}"/>
              </a:ext>
            </a:extLst>
          </p:cNvPr>
          <p:cNvSpPr txBox="1"/>
          <p:nvPr/>
        </p:nvSpPr>
        <p:spPr>
          <a:xfrm>
            <a:off x="845574" y="1774371"/>
            <a:ext cx="895894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SmartDrive – 3D Self-Driving Car Simulator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autonomous driving simulation platform designed to demonstrate intelligent vehicle navigation in a realistic 3D environment.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A* path planning,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LiDAR-based obstacle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vehicle control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simulate autonomous driving.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developed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Three.js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3D visualization,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Flask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backend services,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frontend development.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simulator includes roads, traffic signals, pedestrians, and dynamic vehicles to create realistic urban driving scenarios.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safe, cost-effective, and educational 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learning, testing, and evaluating autonomous driving technologies without requiring physical vehicles.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42185A-56DC-A432-DF13-DA34AB860616}"/>
              </a:ext>
            </a:extLst>
          </p:cNvPr>
          <p:cNvSpPr/>
          <p:nvPr/>
        </p:nvSpPr>
        <p:spPr>
          <a:xfrm>
            <a:off x="-4879255" y="1623332"/>
            <a:ext cx="4920342" cy="1600198"/>
          </a:xfrm>
          <a:prstGeom prst="roundRect">
            <a:avLst>
              <a:gd name="adj" fmla="val 32917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>
                <a:solidFill>
                  <a:schemeClr val="tx1"/>
                </a:solidFill>
              </a:rPr>
              <a:t>Developing and testing autonomous driving systems on real roads is </a:t>
            </a:r>
            <a:r>
              <a:rPr lang="en-IN" b="1" dirty="0">
                <a:solidFill>
                  <a:schemeClr val="tx1"/>
                </a:solidFill>
              </a:rPr>
              <a:t>expensive, time-consuming, and potentially unsafe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21E3211-F6C4-CB43-83ED-41B126573D45}"/>
              </a:ext>
            </a:extLst>
          </p:cNvPr>
          <p:cNvSpPr/>
          <p:nvPr/>
        </p:nvSpPr>
        <p:spPr>
          <a:xfrm>
            <a:off x="-5148946" y="4291039"/>
            <a:ext cx="5148945" cy="1654628"/>
          </a:xfrm>
          <a:prstGeom prst="roundRect">
            <a:avLst>
              <a:gd name="adj" fmla="val 32917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>
                <a:solidFill>
                  <a:schemeClr val="tx1"/>
                </a:solidFill>
              </a:rPr>
              <a:t>Existing simulators often require </a:t>
            </a:r>
            <a:r>
              <a:rPr lang="en-IN" b="1" dirty="0">
                <a:solidFill>
                  <a:schemeClr val="tx1"/>
                </a:solidFill>
              </a:rPr>
              <a:t>high-end hardware</a:t>
            </a:r>
            <a:r>
              <a:rPr lang="en-IN" dirty="0">
                <a:solidFill>
                  <a:schemeClr val="tx1"/>
                </a:solidFill>
              </a:rPr>
              <a:t> or lack important features such as </a:t>
            </a:r>
            <a:r>
              <a:rPr lang="en-IN" b="1" dirty="0">
                <a:solidFill>
                  <a:schemeClr val="tx1"/>
                </a:solidFill>
              </a:rPr>
              <a:t>realistic vehicle physics, intelligent route planning, obstacle detection, traffic management, and telemetry analysis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36DD0A-E4BF-17EA-1F8C-8E162ACE3F32}"/>
              </a:ext>
            </a:extLst>
          </p:cNvPr>
          <p:cNvSpPr/>
          <p:nvPr/>
        </p:nvSpPr>
        <p:spPr>
          <a:xfrm>
            <a:off x="12192000" y="1623332"/>
            <a:ext cx="5040088" cy="1600198"/>
          </a:xfrm>
          <a:prstGeom prst="roundRect">
            <a:avLst>
              <a:gd name="adj" fmla="val 32917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>
                <a:solidFill>
                  <a:schemeClr val="tx1"/>
                </a:solidFill>
              </a:rPr>
              <a:t>There is a need for a </a:t>
            </a:r>
            <a:r>
              <a:rPr lang="en-IN" b="1" dirty="0">
                <a:solidFill>
                  <a:schemeClr val="tx1"/>
                </a:solidFill>
              </a:rPr>
              <a:t>lightweight, modular, and cost-effective simulation platform</a:t>
            </a:r>
            <a:r>
              <a:rPr lang="en-IN" dirty="0">
                <a:solidFill>
                  <a:schemeClr val="tx1"/>
                </a:solidFill>
              </a:rPr>
              <a:t> that combines all major autonomous driving components in a single environment.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9C5505-8E40-5D3A-DFE6-303A4D8CBDFD}"/>
              </a:ext>
            </a:extLst>
          </p:cNvPr>
          <p:cNvSpPr/>
          <p:nvPr/>
        </p:nvSpPr>
        <p:spPr>
          <a:xfrm>
            <a:off x="12192000" y="4291039"/>
            <a:ext cx="5040088" cy="1600198"/>
          </a:xfrm>
          <a:prstGeom prst="roundRect">
            <a:avLst>
              <a:gd name="adj" fmla="val 32917"/>
            </a:avLst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SmartDrive integrates 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path planning, LiDAR sensing, and autonomous navigation in a realistic 3D simulator</a:t>
            </a:r>
          </a:p>
        </p:txBody>
      </p:sp>
    </p:spTree>
    <p:extLst>
      <p:ext uri="{BB962C8B-B14F-4D97-AF65-F5344CB8AC3E}">
        <p14:creationId xmlns:p14="http://schemas.microsoft.com/office/powerpoint/2010/main" val="33910905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2D6BBA-8B93-0DC1-3E11-321FDF43BE12}"/>
              </a:ext>
            </a:extLst>
          </p:cNvPr>
          <p:cNvSpPr/>
          <p:nvPr/>
        </p:nvSpPr>
        <p:spPr>
          <a:xfrm>
            <a:off x="740232" y="1649187"/>
            <a:ext cx="4920342" cy="1600198"/>
          </a:xfrm>
          <a:prstGeom prst="roundRect">
            <a:avLst>
              <a:gd name="adj" fmla="val 32917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</a:t>
            </a:r>
            <a:r>
              <a:rPr lang="en-IN" dirty="0">
                <a:solidFill>
                  <a:schemeClr val="tx1"/>
                </a:solidFill>
              </a:rPr>
              <a:t> and testing autonomous driving systems on real roads is </a:t>
            </a:r>
            <a:r>
              <a:rPr lang="en-IN" b="1" dirty="0">
                <a:solidFill>
                  <a:schemeClr val="tx1"/>
                </a:solidFill>
              </a:rPr>
              <a:t>expensive, time-consuming, and potentially unsafe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79B008-CAFF-AF85-38B5-5CDE8DD7D67A}"/>
              </a:ext>
            </a:extLst>
          </p:cNvPr>
          <p:cNvSpPr/>
          <p:nvPr/>
        </p:nvSpPr>
        <p:spPr>
          <a:xfrm>
            <a:off x="740232" y="4201884"/>
            <a:ext cx="5148945" cy="1654628"/>
          </a:xfrm>
          <a:prstGeom prst="roundRect">
            <a:avLst>
              <a:gd name="adj" fmla="val 32917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simulators often require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high-end hardware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lack important features such as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realistic vehicle physics, intelligent route planning, obstacle detection, traffic management, and telemetry analysis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1BA0A8-A2DB-61F2-EA9E-6D7F79A62DD0}"/>
              </a:ext>
            </a:extLst>
          </p:cNvPr>
          <p:cNvSpPr/>
          <p:nvPr/>
        </p:nvSpPr>
        <p:spPr>
          <a:xfrm>
            <a:off x="6531427" y="1649187"/>
            <a:ext cx="5040088" cy="1600198"/>
          </a:xfrm>
          <a:prstGeom prst="roundRect">
            <a:avLst>
              <a:gd name="adj" fmla="val 32917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modular, and cost-effective simulation platform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combines all major autonomous driving components in a single environment.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1D29A2-AEF0-B522-F782-FA70690BD7B1}"/>
              </a:ext>
            </a:extLst>
          </p:cNvPr>
          <p:cNvSpPr/>
          <p:nvPr/>
        </p:nvSpPr>
        <p:spPr>
          <a:xfrm>
            <a:off x="6531427" y="4256314"/>
            <a:ext cx="5040088" cy="1600198"/>
          </a:xfrm>
          <a:prstGeom prst="roundRect">
            <a:avLst>
              <a:gd name="adj" fmla="val 32917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SmartDrive integrates A* path planning, LiDAR sensing, and autonomous navigation in a realistic 3D simulator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AC5C6E-2789-E0C2-B924-A36D5F671530}"/>
              </a:ext>
            </a:extLst>
          </p:cNvPr>
          <p:cNvSpPr txBox="1"/>
          <p:nvPr/>
        </p:nvSpPr>
        <p:spPr>
          <a:xfrm>
            <a:off x="795013" y="276179"/>
            <a:ext cx="8962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Problem Statement</a:t>
            </a:r>
            <a:endParaRPr lang="en-IN" sz="5400" b="1" dirty="0">
              <a:latin typeface="Arial Rounded MT Bold" panose="020F0704030504030204" pitchFamily="34" charset="0"/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CAEEC48-DC10-3B20-1580-AD27BB6F421E}"/>
              </a:ext>
            </a:extLst>
          </p:cNvPr>
          <p:cNvSpPr/>
          <p:nvPr/>
        </p:nvSpPr>
        <p:spPr>
          <a:xfrm rot="5400000">
            <a:off x="-24580" y="506794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BE1D2C-D9D0-D072-B770-F2E460D9D6C8}"/>
              </a:ext>
            </a:extLst>
          </p:cNvPr>
          <p:cNvSpPr txBox="1"/>
          <p:nvPr/>
        </p:nvSpPr>
        <p:spPr>
          <a:xfrm>
            <a:off x="376090" y="1649187"/>
            <a:ext cx="418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0230EF-8EC5-EDC6-80D7-805DE96D44A7}"/>
              </a:ext>
            </a:extLst>
          </p:cNvPr>
          <p:cNvSpPr txBox="1"/>
          <p:nvPr/>
        </p:nvSpPr>
        <p:spPr>
          <a:xfrm>
            <a:off x="6210833" y="1649187"/>
            <a:ext cx="418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7FAB06-EBCC-777E-E26E-0634B4D8104D}"/>
              </a:ext>
            </a:extLst>
          </p:cNvPr>
          <p:cNvSpPr txBox="1"/>
          <p:nvPr/>
        </p:nvSpPr>
        <p:spPr>
          <a:xfrm>
            <a:off x="321665" y="4201884"/>
            <a:ext cx="418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3.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7984B2-C5AD-52F0-6BAC-69F5766C8C71}"/>
              </a:ext>
            </a:extLst>
          </p:cNvPr>
          <p:cNvSpPr txBox="1"/>
          <p:nvPr/>
        </p:nvSpPr>
        <p:spPr>
          <a:xfrm>
            <a:off x="6210832" y="4256314"/>
            <a:ext cx="418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3077886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D83124-4DA8-EEC3-D298-21B960BA968F}"/>
              </a:ext>
            </a:extLst>
          </p:cNvPr>
          <p:cNvSpPr txBox="1"/>
          <p:nvPr/>
        </p:nvSpPr>
        <p:spPr>
          <a:xfrm>
            <a:off x="845574" y="296804"/>
            <a:ext cx="7443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Objectives</a:t>
            </a:r>
            <a:endParaRPr lang="en-IN" sz="6600" b="1" dirty="0">
              <a:latin typeface="Arial Rounded MT Bold" panose="020F0704030504030204" pitchFamily="34" charset="0"/>
            </a:endParaRP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E7560BA-65AD-200D-B04C-D5172F0ADC39}"/>
              </a:ext>
            </a:extLst>
          </p:cNvPr>
          <p:cNvSpPr/>
          <p:nvPr/>
        </p:nvSpPr>
        <p:spPr>
          <a:xfrm rot="5400000">
            <a:off x="-24581" y="614517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EB00B6-EF76-366D-0E23-6A5243C87425}"/>
              </a:ext>
            </a:extLst>
          </p:cNvPr>
          <p:cNvSpPr txBox="1"/>
          <p:nvPr/>
        </p:nvSpPr>
        <p:spPr>
          <a:xfrm>
            <a:off x="936173" y="1600201"/>
            <a:ext cx="847997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web-based autonomous driving simulator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safe and realistic vehicle navigation. 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A * path planning algorithm to generate the shortest and most efficient route.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LiDAR-based obstacle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detection of vehicles, pedestrians, and road obstacles.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driving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intelligent steering, speed control, obstacle avoidance, and traffic signal compliance.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speed, steering angle, braking events, and route completion for performance analysis.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modular, and cost-effective platform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education, research, and future development of autonomous driving technologies. </a:t>
            </a:r>
          </a:p>
        </p:txBody>
      </p:sp>
    </p:spTree>
    <p:extLst>
      <p:ext uri="{BB962C8B-B14F-4D97-AF65-F5344CB8AC3E}">
        <p14:creationId xmlns:p14="http://schemas.microsoft.com/office/powerpoint/2010/main" val="2580192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62AEBC1-03D7-0B45-4223-17E79A12DC50}"/>
              </a:ext>
            </a:extLst>
          </p:cNvPr>
          <p:cNvSpPr/>
          <p:nvPr/>
        </p:nvSpPr>
        <p:spPr>
          <a:xfrm>
            <a:off x="-2122027" y="-3159746"/>
            <a:ext cx="12018381" cy="12211149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268BA-1FDF-673E-3DD1-6C5592F23BE0}"/>
              </a:ext>
            </a:extLst>
          </p:cNvPr>
          <p:cNvSpPr txBox="1"/>
          <p:nvPr/>
        </p:nvSpPr>
        <p:spPr>
          <a:xfrm>
            <a:off x="764067" y="308246"/>
            <a:ext cx="72934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Technology Used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6B3E7CF-1C52-EB88-5F90-D624866AE0D2}"/>
              </a:ext>
            </a:extLst>
          </p:cNvPr>
          <p:cNvSpPr/>
          <p:nvPr/>
        </p:nvSpPr>
        <p:spPr>
          <a:xfrm rot="5400000">
            <a:off x="-24581" y="614517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B537EA-6AB5-175F-CC18-F08626FCA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436556"/>
              </p:ext>
            </p:extLst>
          </p:nvPr>
        </p:nvGraphicFramePr>
        <p:xfrm>
          <a:off x="1053297" y="1670190"/>
          <a:ext cx="7293429" cy="27758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4638">
                  <a:extLst>
                    <a:ext uri="{9D8B030D-6E8A-4147-A177-3AD203B41FA5}">
                      <a16:colId xmlns:a16="http://schemas.microsoft.com/office/drawing/2014/main" val="1276257773"/>
                    </a:ext>
                  </a:extLst>
                </a:gridCol>
                <a:gridCol w="3638791">
                  <a:extLst>
                    <a:ext uri="{9D8B030D-6E8A-4147-A177-3AD203B41FA5}">
                      <a16:colId xmlns:a16="http://schemas.microsoft.com/office/drawing/2014/main" val="3230075076"/>
                    </a:ext>
                  </a:extLst>
                </a:gridCol>
              </a:tblGrid>
              <a:tr h="386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>
                          <a:solidFill>
                            <a:schemeClr val="accent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6030097"/>
                  </a:ext>
                </a:extLst>
              </a:tr>
              <a:tr h="386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Three.js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3D Visualization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105299"/>
                  </a:ext>
                </a:extLst>
              </a:tr>
              <a:tr h="386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 Flask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Backend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313560"/>
                  </a:ext>
                </a:extLst>
              </a:tr>
              <a:tr h="386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Frontend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256468"/>
                  </a:ext>
                </a:extLst>
              </a:tr>
              <a:tr h="386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Frontend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6576894"/>
                  </a:ext>
                </a:extLst>
              </a:tr>
              <a:tr h="386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HTML/CSS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User Interface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317330"/>
                  </a:ext>
                </a:extLst>
              </a:tr>
              <a:tr h="3864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Backend &amp;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222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9D31231-4121-F393-37C6-9CA645D2789E}"/>
              </a:ext>
            </a:extLst>
          </p:cNvPr>
          <p:cNvSpPr txBox="1"/>
          <p:nvPr/>
        </p:nvSpPr>
        <p:spPr>
          <a:xfrm>
            <a:off x="1770926" y="4445994"/>
            <a:ext cx="8229600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Three.js, Vite, HTML, CSS, JavaScript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Flask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A*, Random Forest, Reinforcement Learning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LiDAR (Ray Casting)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73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667BA4-E2C4-9EC4-87C0-A1C6877D9897}"/>
              </a:ext>
            </a:extLst>
          </p:cNvPr>
          <p:cNvSpPr txBox="1"/>
          <p:nvPr/>
        </p:nvSpPr>
        <p:spPr>
          <a:xfrm>
            <a:off x="729343" y="262080"/>
            <a:ext cx="81484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System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CCE9F-42BB-4B4D-5523-4593268C791B}"/>
              </a:ext>
            </a:extLst>
          </p:cNvPr>
          <p:cNvSpPr txBox="1"/>
          <p:nvPr/>
        </p:nvSpPr>
        <p:spPr>
          <a:xfrm>
            <a:off x="783771" y="1425274"/>
            <a:ext cx="3592286" cy="5016758"/>
          </a:xfrm>
          <a:prstGeom prst="rect">
            <a:avLst/>
          </a:prstGeom>
          <a:noFill/>
          <a:ln w="19050">
            <a:solidFill>
              <a:schemeClr val="bg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dirty="0"/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│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▼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Frontend (Three.js + Vite)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│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REST API Communication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│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▼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Backend (Python Flask)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│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┌────────────────────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▼            ▼            ▼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Route   LiDAR &amp; AI   Telemetry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  Decision      Analysis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│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▼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Autonomous Vehicle Control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│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▼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3D Simulation Environment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A33D34F-C180-1889-FDAD-58DC09F46FA3}"/>
              </a:ext>
            </a:extLst>
          </p:cNvPr>
          <p:cNvCxnSpPr/>
          <p:nvPr/>
        </p:nvCxnSpPr>
        <p:spPr>
          <a:xfrm>
            <a:off x="4136572" y="4027714"/>
            <a:ext cx="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310791-AD70-CC9A-F2F8-57637D2AAED1}"/>
              </a:ext>
            </a:extLst>
          </p:cNvPr>
          <p:cNvSpPr txBox="1"/>
          <p:nvPr/>
        </p:nvSpPr>
        <p:spPr>
          <a:xfrm>
            <a:off x="4876801" y="1807029"/>
            <a:ext cx="67164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select the source, destination, and simulation settings. 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(Three.js + Vite):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Renders the 3D environment, roads, vehicles, and animations. 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(Python Flask):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route generation, telemetry processing, and communication with the frontend. </a:t>
            </a:r>
          </a:p>
          <a:p>
            <a:pPr marL="285750" indent="-285750">
              <a:spcAft>
                <a:spcPts val="18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Modules: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 A* path planning,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LiDAR-based obstacle detection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autonomous driving decisions.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Module: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speed, steering angle, braking, collision count, and route completion for performance evaluation.</a:t>
            </a: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33920F10-05C0-583A-797F-34FBB46F5CD4}"/>
              </a:ext>
            </a:extLst>
          </p:cNvPr>
          <p:cNvSpPr/>
          <p:nvPr/>
        </p:nvSpPr>
        <p:spPr>
          <a:xfrm rot="5400000">
            <a:off x="-24581" y="614517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24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4E23C0-495E-202A-569E-9F4F2974F047}"/>
              </a:ext>
            </a:extLst>
          </p:cNvPr>
          <p:cNvCxnSpPr>
            <a:stCxn id="8" idx="2"/>
          </p:cNvCxnSpPr>
          <p:nvPr/>
        </p:nvCxnSpPr>
        <p:spPr>
          <a:xfrm>
            <a:off x="2013995" y="1747777"/>
            <a:ext cx="67277" cy="4549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50A191-BA04-935F-C364-1147B4BF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465" y="158837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Flow of Work 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0218A2B-6D45-7A00-C51C-2F7C073EFEA6}"/>
              </a:ext>
            </a:extLst>
          </p:cNvPr>
          <p:cNvSpPr/>
          <p:nvPr/>
        </p:nvSpPr>
        <p:spPr>
          <a:xfrm rot="5400000">
            <a:off x="-24581" y="614517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C524CCB-B60E-B158-BADB-BCCC2713BF45}"/>
              </a:ext>
            </a:extLst>
          </p:cNvPr>
          <p:cNvSpPr/>
          <p:nvPr/>
        </p:nvSpPr>
        <p:spPr>
          <a:xfrm>
            <a:off x="1371600" y="1519893"/>
            <a:ext cx="1284790" cy="227884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CC695C-10F2-F6DE-00B3-2C20770251AF}"/>
              </a:ext>
            </a:extLst>
          </p:cNvPr>
          <p:cNvSpPr/>
          <p:nvPr/>
        </p:nvSpPr>
        <p:spPr>
          <a:xfrm>
            <a:off x="528088" y="2456817"/>
            <a:ext cx="3273709" cy="288558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Source &amp; Destination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32196A-B079-17DB-EC63-061D1E49C315}"/>
              </a:ext>
            </a:extLst>
          </p:cNvPr>
          <p:cNvSpPr/>
          <p:nvPr/>
        </p:nvSpPr>
        <p:spPr>
          <a:xfrm>
            <a:off x="971308" y="1947397"/>
            <a:ext cx="2260922" cy="335666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Initialization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59E8BB-54A5-F0E7-D46D-2292F738A2A5}"/>
              </a:ext>
            </a:extLst>
          </p:cNvPr>
          <p:cNvSpPr/>
          <p:nvPr/>
        </p:nvSpPr>
        <p:spPr>
          <a:xfrm>
            <a:off x="1095976" y="2931228"/>
            <a:ext cx="2011585" cy="274794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A* Route Planning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9A8AA0-3C09-EB5C-184A-41E0A9ADC8E0}"/>
              </a:ext>
            </a:extLst>
          </p:cNvPr>
          <p:cNvSpPr/>
          <p:nvPr/>
        </p:nvSpPr>
        <p:spPr>
          <a:xfrm>
            <a:off x="769466" y="3407474"/>
            <a:ext cx="2790952" cy="335667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Navigation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6C577B-89D6-ECBC-5250-78DF35371244}"/>
              </a:ext>
            </a:extLst>
          </p:cNvPr>
          <p:cNvSpPr/>
          <p:nvPr/>
        </p:nvSpPr>
        <p:spPr>
          <a:xfrm>
            <a:off x="863996" y="3903130"/>
            <a:ext cx="2601892" cy="335667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Sensor Detection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5873408-984F-B751-3319-35211B2716C2}"/>
              </a:ext>
            </a:extLst>
          </p:cNvPr>
          <p:cNvSpPr/>
          <p:nvPr/>
        </p:nvSpPr>
        <p:spPr>
          <a:xfrm>
            <a:off x="691465" y="4993686"/>
            <a:ext cx="3073079" cy="623165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Decision Making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(Steering • Speed • Braking)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A718702-8128-9856-58D6-EDD61ED16B54}"/>
              </a:ext>
            </a:extLst>
          </p:cNvPr>
          <p:cNvSpPr/>
          <p:nvPr/>
        </p:nvSpPr>
        <p:spPr>
          <a:xfrm>
            <a:off x="1054983" y="4448408"/>
            <a:ext cx="2052578" cy="335667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Vehicle Movement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72ECA78-91C9-E831-3AD6-0DD1323F439B}"/>
              </a:ext>
            </a:extLst>
          </p:cNvPr>
          <p:cNvSpPr/>
          <p:nvPr/>
        </p:nvSpPr>
        <p:spPr>
          <a:xfrm>
            <a:off x="1002413" y="5826462"/>
            <a:ext cx="2558005" cy="261616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 Collection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74B415B-1D90-FC23-E43B-6400E08172AC}"/>
              </a:ext>
            </a:extLst>
          </p:cNvPr>
          <p:cNvSpPr/>
          <p:nvPr/>
        </p:nvSpPr>
        <p:spPr>
          <a:xfrm>
            <a:off x="1054983" y="6297690"/>
            <a:ext cx="2558005" cy="300784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5C4C9F-6866-2BD0-ACF9-024CBDB20AD6}"/>
              </a:ext>
            </a:extLst>
          </p:cNvPr>
          <p:cNvSpPr/>
          <p:nvPr/>
        </p:nvSpPr>
        <p:spPr>
          <a:xfrm>
            <a:off x="3929605" y="6297690"/>
            <a:ext cx="1284790" cy="300784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9CD841-8515-DCFA-EE67-304F3F29666B}"/>
              </a:ext>
            </a:extLst>
          </p:cNvPr>
          <p:cNvCxnSpPr>
            <a:cxnSpLocks/>
            <a:stCxn id="28" idx="0"/>
            <a:endCxn id="28" idx="0"/>
          </p:cNvCxnSpPr>
          <p:nvPr/>
        </p:nvCxnSpPr>
        <p:spPr>
          <a:xfrm>
            <a:off x="4572000" y="629769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BD6DA0-BF4F-0E62-5B29-FCEB607DBBFF}"/>
              </a:ext>
            </a:extLst>
          </p:cNvPr>
          <p:cNvCxnSpPr>
            <a:stCxn id="26" idx="3"/>
            <a:endCxn id="28" idx="1"/>
          </p:cNvCxnSpPr>
          <p:nvPr/>
        </p:nvCxnSpPr>
        <p:spPr>
          <a:xfrm>
            <a:off x="3612988" y="6448082"/>
            <a:ext cx="3166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5A869C9-542E-E6D5-497E-0644061F2FB5}"/>
              </a:ext>
            </a:extLst>
          </p:cNvPr>
          <p:cNvSpPr txBox="1"/>
          <p:nvPr/>
        </p:nvSpPr>
        <p:spPr>
          <a:xfrm>
            <a:off x="4603105" y="1574941"/>
            <a:ext cx="7433605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Initialization: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 the 3D environment, road network, traffic, pedestrians, and autonomous vehicle.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Generation: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A* algorithm computes the shortest path between the selected source and destination.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Navigation: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vehicle follows the planned route using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Pursuit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steering controller.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Detection: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Continuously scans for vehicles, pedestrians, traffic signals, and obstacles. 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Decision Making: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Adjusts steering, acceleration, braking, and speed to ensure safe driving.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Telemetry Collection: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Records vehicle speed, steering angle, braking events, collisions, and route completion.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Evaluates navigation accuracy, obstacle avoidance, and overall system performance.</a:t>
            </a:r>
          </a:p>
        </p:txBody>
      </p:sp>
    </p:spTree>
    <p:extLst>
      <p:ext uri="{BB962C8B-B14F-4D97-AF65-F5344CB8AC3E}">
        <p14:creationId xmlns:p14="http://schemas.microsoft.com/office/powerpoint/2010/main" val="620885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5DD1-C937-406F-6DA0-53BC9DA2A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947" y="411424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1A488-7310-18E6-5A73-D92E2EE176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7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🚗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Navigation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Automatically drives the vehicle from the selected source to the destination.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🗺️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A* Path Planning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Computes the shortest and most efficient route through the road network.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📡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LiDAR-Based Obstacle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vehicles, pedestrians, road boundaries, and obstacles in real time.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🚦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traffic signals, dynamic traffic vehicles, and pedestrian crossings.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Telemetry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vehicle speed, steering angle, braking events, travelled distance, and route completion. 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🌐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Web-Based Simulation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Built using Three.js and Python Flask with a modular client-server architecture for realistic visualization and easy scalability.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19ED76D-053D-A801-1BB4-175311B04594}"/>
              </a:ext>
            </a:extLst>
          </p:cNvPr>
          <p:cNvSpPr/>
          <p:nvPr/>
        </p:nvSpPr>
        <p:spPr>
          <a:xfrm rot="5400000">
            <a:off x="-24580" y="872644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85B7EA-4CAD-053C-A242-7F21AC9298BF}"/>
              </a:ext>
            </a:extLst>
          </p:cNvPr>
          <p:cNvSpPr/>
          <p:nvPr/>
        </p:nvSpPr>
        <p:spPr>
          <a:xfrm>
            <a:off x="-5069711" y="2006807"/>
            <a:ext cx="5069711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(A-Star) Algorithm*</a:t>
            </a:r>
            <a:b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shortest and most efficient route.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8BD89D3-394A-7B3D-2370-95E8A6B4EDCF}"/>
              </a:ext>
            </a:extLst>
          </p:cNvPr>
          <p:cNvSpPr/>
          <p:nvPr/>
        </p:nvSpPr>
        <p:spPr>
          <a:xfrm>
            <a:off x="12192000" y="2006807"/>
            <a:ext cx="5069710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LiDAR (Ray Casting)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Detects obstacles, pedestrians, and nearby vehicles.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9A89E23-A93D-F55E-3276-CC1208E31C2C}"/>
              </a:ext>
            </a:extLst>
          </p:cNvPr>
          <p:cNvSpPr/>
          <p:nvPr/>
        </p:nvSpPr>
        <p:spPr>
          <a:xfrm>
            <a:off x="-5069712" y="5172685"/>
            <a:ext cx="5069711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Random Forest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Predicts driving actions and steering corrections.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56691A-F8CC-531E-8C43-B622D2EB249B}"/>
              </a:ext>
            </a:extLst>
          </p:cNvPr>
          <p:cNvSpPr/>
          <p:nvPr/>
        </p:nvSpPr>
        <p:spPr>
          <a:xfrm>
            <a:off x="-5069711" y="3589746"/>
            <a:ext cx="5069711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Pure Pursuit Algorithm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Ensures smooth steering and accurate path following.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71F199-BF4C-6B4A-4881-864EF64BA6DB}"/>
              </a:ext>
            </a:extLst>
          </p:cNvPr>
          <p:cNvSpPr/>
          <p:nvPr/>
        </p:nvSpPr>
        <p:spPr>
          <a:xfrm>
            <a:off x="12192000" y="4887157"/>
            <a:ext cx="5069710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Reinforcement Learning (Q-Learning)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Learns and improves driving decisions over time.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3EDCB14-2382-B109-E714-2BC869B4E189}"/>
              </a:ext>
            </a:extLst>
          </p:cNvPr>
          <p:cNvSpPr/>
          <p:nvPr/>
        </p:nvSpPr>
        <p:spPr>
          <a:xfrm>
            <a:off x="12192000" y="3429000"/>
            <a:ext cx="5069710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Telemetry Analysis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Monitors speed, steering, braking, and overall vehicle performance. </a:t>
            </a:r>
          </a:p>
        </p:txBody>
      </p:sp>
    </p:spTree>
    <p:extLst>
      <p:ext uri="{BB962C8B-B14F-4D97-AF65-F5344CB8AC3E}">
        <p14:creationId xmlns:p14="http://schemas.microsoft.com/office/powerpoint/2010/main" val="3511719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DABEA5B-E4A4-A154-031D-8080578D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6000" b="1" dirty="0">
                <a:latin typeface="Bodoni MT Black" panose="02070A03080606020203" pitchFamily="18" charset="0"/>
              </a:rPr>
              <a:t>Algorithm &amp; AI Techniques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D91CE8-52A4-B1B8-81C9-9688DA83AF14}"/>
              </a:ext>
            </a:extLst>
          </p:cNvPr>
          <p:cNvSpPr/>
          <p:nvPr/>
        </p:nvSpPr>
        <p:spPr>
          <a:xfrm>
            <a:off x="729204" y="2071868"/>
            <a:ext cx="5069711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A* (A-Star) Algorithm</a:t>
            </a:r>
            <a:b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shortest and most efficient route.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A7BA19-7183-490C-6ACF-EAADBA647DAB}"/>
              </a:ext>
            </a:extLst>
          </p:cNvPr>
          <p:cNvSpPr/>
          <p:nvPr/>
        </p:nvSpPr>
        <p:spPr>
          <a:xfrm>
            <a:off x="6636153" y="2098353"/>
            <a:ext cx="5069710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(Ray Casting)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Detects obstacles, pedestrians, and nearby vehicles.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C6EC2D-7E4F-934E-8D1D-9394B5ACDA18}"/>
              </a:ext>
            </a:extLst>
          </p:cNvPr>
          <p:cNvSpPr/>
          <p:nvPr/>
        </p:nvSpPr>
        <p:spPr>
          <a:xfrm>
            <a:off x="729202" y="5279825"/>
            <a:ext cx="5069711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driving actions and steering corrections.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88CC73-EE0E-0B65-1FDE-E8FE199EAF31}"/>
              </a:ext>
            </a:extLst>
          </p:cNvPr>
          <p:cNvSpPr/>
          <p:nvPr/>
        </p:nvSpPr>
        <p:spPr>
          <a:xfrm>
            <a:off x="729202" y="3685753"/>
            <a:ext cx="5069711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 Pursuit Algorithm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steering and accurate path following.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A44F5B-1A6B-108F-5B34-149C1E4D08F4}"/>
              </a:ext>
            </a:extLst>
          </p:cNvPr>
          <p:cNvSpPr/>
          <p:nvPr/>
        </p:nvSpPr>
        <p:spPr>
          <a:xfrm>
            <a:off x="6636153" y="5289832"/>
            <a:ext cx="5069710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(Q-Learning)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Learns and improves driving decisions over time.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06B876-F23A-C002-FF1D-285BF1E69986}"/>
              </a:ext>
            </a:extLst>
          </p:cNvPr>
          <p:cNvSpPr/>
          <p:nvPr/>
        </p:nvSpPr>
        <p:spPr>
          <a:xfrm>
            <a:off x="6636153" y="3685752"/>
            <a:ext cx="5069710" cy="952461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 Analysis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Monitors speed, steering, braking, and overall vehicle performance.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44936A-F159-DFD8-8D44-F31F55BDB154}"/>
              </a:ext>
            </a:extLst>
          </p:cNvPr>
          <p:cNvSpPr txBox="1"/>
          <p:nvPr/>
        </p:nvSpPr>
        <p:spPr>
          <a:xfrm>
            <a:off x="310585" y="2006807"/>
            <a:ext cx="418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2F2CB2-C01E-C7C2-6C71-365A389715AA}"/>
              </a:ext>
            </a:extLst>
          </p:cNvPr>
          <p:cNvSpPr txBox="1"/>
          <p:nvPr/>
        </p:nvSpPr>
        <p:spPr>
          <a:xfrm>
            <a:off x="6288911" y="5279825"/>
            <a:ext cx="41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91DA4-D10B-BEBE-1912-A152A55E7551}"/>
              </a:ext>
            </a:extLst>
          </p:cNvPr>
          <p:cNvSpPr txBox="1"/>
          <p:nvPr/>
        </p:nvSpPr>
        <p:spPr>
          <a:xfrm>
            <a:off x="312516" y="5279825"/>
            <a:ext cx="412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440293-7C11-04F1-56A7-66CCB2090EAE}"/>
              </a:ext>
            </a:extLst>
          </p:cNvPr>
          <p:cNvSpPr txBox="1"/>
          <p:nvPr/>
        </p:nvSpPr>
        <p:spPr>
          <a:xfrm>
            <a:off x="6288912" y="3696645"/>
            <a:ext cx="51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65EEFB-410F-C468-DE9C-FB2EC5F9427F}"/>
              </a:ext>
            </a:extLst>
          </p:cNvPr>
          <p:cNvSpPr txBox="1"/>
          <p:nvPr/>
        </p:nvSpPr>
        <p:spPr>
          <a:xfrm>
            <a:off x="306719" y="3643315"/>
            <a:ext cx="418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CE44D8-7FBB-64AA-57EE-87D64786629C}"/>
              </a:ext>
            </a:extLst>
          </p:cNvPr>
          <p:cNvSpPr txBox="1"/>
          <p:nvPr/>
        </p:nvSpPr>
        <p:spPr>
          <a:xfrm>
            <a:off x="6288912" y="2006807"/>
            <a:ext cx="41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B0C34C-9099-A332-0725-9C8A6BFD117A}"/>
              </a:ext>
            </a:extLst>
          </p:cNvPr>
          <p:cNvSpPr txBox="1"/>
          <p:nvPr/>
        </p:nvSpPr>
        <p:spPr>
          <a:xfrm>
            <a:off x="7839919" y="1952565"/>
            <a:ext cx="421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515C2CF-7745-A0F5-B6CA-2200BBFE2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177" y="-2280888"/>
            <a:ext cx="3900668" cy="219412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842DFD2-D224-B1E3-7587-7243F3CCD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177" y="7075569"/>
            <a:ext cx="3900670" cy="2194127"/>
          </a:xfrm>
          <a:prstGeom prst="rect">
            <a:avLst/>
          </a:prstGeom>
        </p:spPr>
      </p:pic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0454BCCB-E133-ECA4-4B56-705CB514EDD9}"/>
              </a:ext>
            </a:extLst>
          </p:cNvPr>
          <p:cNvSpPr/>
          <p:nvPr/>
        </p:nvSpPr>
        <p:spPr>
          <a:xfrm rot="5400000">
            <a:off x="-24580" y="872644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9426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7B8E3-D804-5EAA-936A-EB14FBFD2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355"/>
            <a:ext cx="10515600" cy="1325563"/>
          </a:xfrm>
        </p:spPr>
        <p:txBody>
          <a:bodyPr>
            <a:norm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Results &amp;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F5C05-7F09-D504-F7D1-1F2CADAE5E0D}"/>
              </a:ext>
            </a:extLst>
          </p:cNvPr>
          <p:cNvSpPr txBox="1"/>
          <p:nvPr/>
        </p:nvSpPr>
        <p:spPr>
          <a:xfrm>
            <a:off x="838200" y="1690688"/>
            <a:ext cx="7125182" cy="419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Route Completion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📍 Successfully reached the destination in all test scenarios.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Obstacle Detection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📡 LiDAR reliably detected vehicles, pedestrians, and obstacles.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Autonomous Navigation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🚗 Followed the planned route while complying with traffic rules.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Route Planning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🗺️ A* algorithm generated the shortest navigation path.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Telemetry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Recorded speed, steering angle, braking, and vehicle performance.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97121-863B-859F-24D0-B16CFD76F0BD}"/>
              </a:ext>
            </a:extLst>
          </p:cNvPr>
          <p:cNvSpPr txBox="1"/>
          <p:nvPr/>
        </p:nvSpPr>
        <p:spPr>
          <a:xfrm>
            <a:off x="7812911" y="2268638"/>
            <a:ext cx="4213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4446E8-333D-62EC-868B-F4420CBE1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911" y="1595149"/>
            <a:ext cx="3900668" cy="21941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AED433-09E5-7DEF-475A-A82D8D1AE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909" y="4165787"/>
            <a:ext cx="3900670" cy="2194127"/>
          </a:xfrm>
          <a:prstGeom prst="rect">
            <a:avLst/>
          </a:prstGeom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0E5A6693-0E06-C6A9-F094-6FB82AF7F978}"/>
              </a:ext>
            </a:extLst>
          </p:cNvPr>
          <p:cNvSpPr/>
          <p:nvPr/>
        </p:nvSpPr>
        <p:spPr>
          <a:xfrm rot="5400000">
            <a:off x="-24581" y="768574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CA464583-4D1D-78A0-CE1E-1F822265B520}"/>
              </a:ext>
            </a:extLst>
          </p:cNvPr>
          <p:cNvSpPr/>
          <p:nvPr/>
        </p:nvSpPr>
        <p:spPr>
          <a:xfrm rot="5400000">
            <a:off x="-1320014" y="2545900"/>
            <a:ext cx="452284" cy="40312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70A4573-62C5-1A9D-0083-47980AA56FC7}"/>
              </a:ext>
            </a:extLst>
          </p:cNvPr>
          <p:cNvSpPr/>
          <p:nvPr/>
        </p:nvSpPr>
        <p:spPr>
          <a:xfrm>
            <a:off x="-5050405" y="1825149"/>
            <a:ext cx="5023350" cy="406271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  <a:spcAft>
                <a:spcPts val="12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web-based simulator. 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path planning for optimal navigation.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LiDAR-based obstacle detection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client-server architecture for easy maintenance. 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 analysis for performance evaluation.</a:t>
            </a:r>
          </a:p>
          <a:p>
            <a:pPr algn="ctr"/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7AB549-27BE-AFB0-4736-4EE7BC5943EB}"/>
              </a:ext>
            </a:extLst>
          </p:cNvPr>
          <p:cNvSpPr/>
          <p:nvPr/>
        </p:nvSpPr>
        <p:spPr>
          <a:xfrm>
            <a:off x="12219055" y="1397643"/>
            <a:ext cx="4762143" cy="4062713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Operates only in a simulated environment. 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sensor accuracy and weather simulation.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models require further training for complex traffic scenarios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DE9E26C-29A8-7DA0-6F34-110A8BA42DA3}"/>
              </a:ext>
            </a:extLst>
          </p:cNvPr>
          <p:cNvSpPr/>
          <p:nvPr/>
        </p:nvSpPr>
        <p:spPr>
          <a:xfrm rot="5400000">
            <a:off x="-5074987" y="2436408"/>
            <a:ext cx="452284" cy="40312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F445AE31-9BA6-6736-264F-F4C8BFBD70B8}"/>
              </a:ext>
            </a:extLst>
          </p:cNvPr>
          <p:cNvSpPr/>
          <p:nvPr/>
        </p:nvSpPr>
        <p:spPr>
          <a:xfrm rot="5400000">
            <a:off x="4351580" y="2545900"/>
            <a:ext cx="452284" cy="40312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3189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72A0D-7426-5FA0-EC79-9205054FC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69298"/>
            <a:ext cx="10515600" cy="1325563"/>
          </a:xfrm>
        </p:spPr>
        <p:txBody>
          <a:bodyPr>
            <a:noAutofit/>
          </a:bodyPr>
          <a:lstStyle/>
          <a:p>
            <a:r>
              <a:rPr lang="en-IN" sz="5400" b="1" dirty="0">
                <a:latin typeface="Arial Rounded MT Bold" panose="020F0704030504030204" pitchFamily="34" charset="0"/>
              </a:rPr>
              <a:t>Advantages &amp; Limitations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C0ACAAC5-6FE4-7FC3-7E3A-0943A7698338}"/>
              </a:ext>
            </a:extLst>
          </p:cNvPr>
          <p:cNvSpPr/>
          <p:nvPr/>
        </p:nvSpPr>
        <p:spPr>
          <a:xfrm rot="5400000">
            <a:off x="1225486" y="2653693"/>
            <a:ext cx="452284" cy="40312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43EC0DA5-77DB-895D-4220-CD8890C40E6A}"/>
              </a:ext>
            </a:extLst>
          </p:cNvPr>
          <p:cNvSpPr/>
          <p:nvPr/>
        </p:nvSpPr>
        <p:spPr>
          <a:xfrm rot="5400000">
            <a:off x="-8603" y="493878"/>
            <a:ext cx="452284" cy="403123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927F37-F0D0-0751-1689-C09908E3B6DD}"/>
              </a:ext>
            </a:extLst>
          </p:cNvPr>
          <p:cNvSpPr/>
          <p:nvPr/>
        </p:nvSpPr>
        <p:spPr>
          <a:xfrm>
            <a:off x="872023" y="2060294"/>
            <a:ext cx="5023350" cy="4062714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300000"/>
              </a:lnSpc>
              <a:spcAft>
                <a:spcPts val="12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and web-based simulator. 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path planning for optimal navigation.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LiDAR-based obstacle detection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client-server architecture for easy maintenance. 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 analysis for performance evaluation.</a:t>
            </a:r>
          </a:p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4258B04-6002-E328-1FF3-8F0103CC91FE}"/>
              </a:ext>
            </a:extLst>
          </p:cNvPr>
          <p:cNvSpPr/>
          <p:nvPr/>
        </p:nvSpPr>
        <p:spPr>
          <a:xfrm>
            <a:off x="6921661" y="2060293"/>
            <a:ext cx="4762143" cy="4062713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Operates only in a simulated environment. 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real-world sensor accuracy and weather simulation. </a:t>
            </a:r>
          </a:p>
          <a:p>
            <a:pPr marL="285750" indent="-285750" algn="just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 models require further training for complex traffic scenarios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endParaRPr lang="en-IN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BA1CAB05-E7FF-C81C-A649-9134263960EA}"/>
              </a:ext>
            </a:extLst>
          </p:cNvPr>
          <p:cNvSpPr/>
          <p:nvPr/>
        </p:nvSpPr>
        <p:spPr>
          <a:xfrm rot="5400000">
            <a:off x="847442" y="2661821"/>
            <a:ext cx="452284" cy="40312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CC4588C7-AB2C-AC6D-E794-92DBF44B0998}"/>
              </a:ext>
            </a:extLst>
          </p:cNvPr>
          <p:cNvSpPr/>
          <p:nvPr/>
        </p:nvSpPr>
        <p:spPr>
          <a:xfrm rot="5400000">
            <a:off x="6897080" y="2653693"/>
            <a:ext cx="452284" cy="403123"/>
          </a:xfrm>
          <a:prstGeom prst="triangl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833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5D06-4548-E39E-BD66-FF7BB562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b="1" dirty="0">
                <a:latin typeface="Arial Rounded MT Bold" panose="020F0704030504030204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FADE8-0E7E-27CB-83A4-AC6BAAB62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Integrate </a:t>
            </a:r>
            <a:r>
              <a:rPr lang="en-IN" sz="2000" b="1" dirty="0"/>
              <a:t>Computer Vision</a:t>
            </a:r>
            <a:r>
              <a:rPr lang="en-IN" sz="2000" dirty="0"/>
              <a:t> for advanced object and lane detection. Apply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b="1" dirty="0"/>
              <a:t>Deep Learning</a:t>
            </a:r>
            <a:r>
              <a:rPr lang="en-IN" sz="2000" dirty="0"/>
              <a:t> to improve autonomous driving decisions.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Support </a:t>
            </a:r>
            <a:r>
              <a:rPr lang="en-IN" sz="2000" b="1" dirty="0"/>
              <a:t>Vehicle-to-Everything (V2X)</a:t>
            </a:r>
            <a:r>
              <a:rPr lang="en-IN" sz="2000" dirty="0"/>
              <a:t> communication for smart transportation.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Add </a:t>
            </a:r>
            <a:r>
              <a:rPr lang="en-IN" sz="2000" b="1" dirty="0"/>
              <a:t>realistic weather and road conditions</a:t>
            </a:r>
            <a:r>
              <a:rPr lang="en-IN" sz="2000" dirty="0"/>
              <a:t> for better simulation.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 Enhance the system with </a:t>
            </a:r>
            <a:r>
              <a:rPr lang="en-IN" sz="2000" b="1" dirty="0"/>
              <a:t>cloud-based monitoring and analytics</a:t>
            </a:r>
            <a:r>
              <a:rPr lang="en-IN" sz="2000" dirty="0"/>
              <a:t>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987CED2-286E-3342-924E-33046F0DF0C9}"/>
              </a:ext>
            </a:extLst>
          </p:cNvPr>
          <p:cNvSpPr/>
          <p:nvPr/>
        </p:nvSpPr>
        <p:spPr>
          <a:xfrm>
            <a:off x="9403465" y="4546760"/>
            <a:ext cx="3900669" cy="3530279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923D884-D81D-CFF3-6C37-667C2504F883}"/>
              </a:ext>
            </a:extLst>
          </p:cNvPr>
          <p:cNvSpPr/>
          <p:nvPr/>
        </p:nvSpPr>
        <p:spPr>
          <a:xfrm>
            <a:off x="10903352" y="2708476"/>
            <a:ext cx="2361235" cy="2349661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705AE4-8C9E-9007-F7B7-84B3827BF8D5}"/>
              </a:ext>
            </a:extLst>
          </p:cNvPr>
          <p:cNvSpPr/>
          <p:nvPr/>
        </p:nvSpPr>
        <p:spPr>
          <a:xfrm>
            <a:off x="9233703" y="-520860"/>
            <a:ext cx="3987479" cy="384279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230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2F6E9-98D3-D133-BD7A-02B04502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286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800" b="1" dirty="0">
                <a:latin typeface="Arial Rounded MT Bold" panose="020F0704030504030204" pitchFamily="34" charset="0"/>
              </a:rPr>
              <a:t>THANK YOU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815432-FF8E-BD3B-D70C-F8960B20CBEF}"/>
              </a:ext>
            </a:extLst>
          </p:cNvPr>
          <p:cNvSpPr/>
          <p:nvPr/>
        </p:nvSpPr>
        <p:spPr>
          <a:xfrm>
            <a:off x="10063223" y="-335666"/>
            <a:ext cx="2581154" cy="2685327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68C1824-55D2-50D8-5B31-F039C88C2E69}"/>
              </a:ext>
            </a:extLst>
          </p:cNvPr>
          <p:cNvSpPr/>
          <p:nvPr/>
        </p:nvSpPr>
        <p:spPr>
          <a:xfrm>
            <a:off x="7743464" y="1291371"/>
            <a:ext cx="5926237" cy="6114327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CC8032-F91F-2A0B-5931-F49C8D6D7D6B}"/>
              </a:ext>
            </a:extLst>
          </p:cNvPr>
          <p:cNvSpPr/>
          <p:nvPr/>
        </p:nvSpPr>
        <p:spPr>
          <a:xfrm>
            <a:off x="6824241" y="4631803"/>
            <a:ext cx="2581154" cy="2685327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020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4269</TotalTime>
  <Words>1410</Words>
  <Application>Microsoft Office PowerPoint</Application>
  <PresentationFormat>Widescreen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Rounded MT Bold</vt:lpstr>
      <vt:lpstr>Bodoni MT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 of Work </vt:lpstr>
      <vt:lpstr>Key Features</vt:lpstr>
      <vt:lpstr>Algorithm &amp; AI Techniques</vt:lpstr>
      <vt:lpstr>Results &amp; Performance</vt:lpstr>
      <vt:lpstr>Advantages &amp; Limitations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Moupiya Das</dc:creator>
  <cp:lastModifiedBy>Moupiya Das</cp:lastModifiedBy>
  <cp:revision>7</cp:revision>
  <dcterms:created xsi:type="dcterms:W3CDTF">2026-07-11T19:19:53Z</dcterms:created>
  <dcterms:modified xsi:type="dcterms:W3CDTF">2026-07-14T18:29:53Z</dcterms:modified>
</cp:coreProperties>
</file>